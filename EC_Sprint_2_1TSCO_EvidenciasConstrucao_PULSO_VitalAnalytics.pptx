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Somos a equipe Vital Analytics e este é o PULSO — um painel de acesso hospitalar construído sobre dados públicos do SUS. Na Sprint 1 apresentamos a ideia. Nesta Sprint 2 trazemos o MVP funcionando com dados reais: 2,9 milhões de internações processadas.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rápida da equipe e da divisão de responsabilidades na Sprint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resume o salto entre as sprints. O ponto principal: saímos de números ilustrativos para dados reais, e de arquitetura desenhada para pipeline executável.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quadro mostra o que foi concluído, o que está em andamento e o que fica para a próxima evolução — nada foi removido do planejamento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Fomos deliberadamente enxutos no escopo. O que não foi implementado está declarado como evolução planejada, não escondido.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seis indicadores de topo respondem em cinco segundos o estado da rede: 2,91 milhões de internações, R$ 5,69 bilhões executados, 55.090 leitos SUS e — o número que motiva a ação — 15 municípios com capacidade ultrapassada. Abaixo, a série mensal com a linha de tendência ajustada por regressão.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filtra por nome, região intermediária e situação de capacidade, e ordena por qualquer indicador. Ao selecionar um município, o painel abre a série mensal, os dez indicadores calculados e o perfil assistencial dominante. Jundiaí, no exemplo, opera a 105,0% de ocupação estimada sobre 443 leitos SUS.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camada Select AI do Autonomous Database. O gestor escolhe ou digita a pergunta; o banco gera o SQL, executa e devolve o resultado com a leitura de negócio. O painel mostra os três: a resposta em linguagem natural, a consulta gerada e a tabela — porque auditar o SQL é parte da confiança na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camadas — origem, ingestão, armazenamento, modelagem e consumo. Cada fonte entra pelo mecanismo que a natureza dela pede.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fontes não compartilham chave primária: SIH e CNES usam o código IBGE de 6 dígitos, o IBGE usa 7 com dígito verificador. A integração é sempre por código, nunca por nome de município — integrar por nome falha silenciosamente.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para mostrar domínio técnico. O TabNet não foi feito para ser consumido por programa — resolver isso foi o que destravou 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stack prioriza o ecossistema Oracle. Python entra onde ele é insubstituível: consumir o TabNet e treinar os modelos.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técnica existe para responder uma pergunta concreta de gestão, não para demonstrar ferramenta.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silhueta aponta para k=2, e escolhemos k=4 conscientemente: a métrica otimiza separação estatística, não utilidade de gestão. Com dois grupos a rede se divide apenas em cheia e vazia, o que não orienta nenhuma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dois casos mostram que o tratamento de dados é decisão analítica, não limpeza: em ambos, o resultado sem o ajuste apontaria para o município errado.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Declarar a limitação do indicador é parte da entrega — um MVP que esconde o limite é pior que um que o declara.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ranking responde 'por onde começar'. O perfil CID responde 'o que está ocupando o leito' — e aponta para fora do hospital.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das evidências visuais, com a ponte para a escalabilidade.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ambiente Oracle está provisionado e carregado. A consulta de controle roda dentro do banco e devolve exatamente os mesmos números do painel — é a prova de que a carga foi íntegra, não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do diferencial. O ponto técnico a destacar: o SQL gerado é exposto e auditável, e a qualidade dele vem da modelagem — dos comentários do esquema — não da chamada de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repositório é público e reúne todo o código gerado no projeto: extração, integração, modelos, scripts do Oracle, notebook de análise exploratória e a documentação de arquitetura e implantação.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estrutura do pitch segue os seis blocos sugeridos, com dois minutos reservados à demonstração ao vivo — que é onde a solução se prova.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a enfatizar é que nenhum número aqui é ilustrativo — todos saem de fonte pública verificável.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com a mensagem de impacto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e agradecimentos.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ulso/docs/evidencias/logo_pul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42416"/>
            <a:ext cx="3063240" cy="1737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2889504"/>
            <a:ext cx="110550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PULSO</a:t>
            </a:r>
            <a:endParaRPr lang="en-US" sz="56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84048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Único de Leitos, Saúde e Ocupação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566928" y="4352544"/>
            <a:ext cx="1463040" cy="32004"/>
          </a:xfrm>
          <a:prstGeom prst="rect">
            <a:avLst/>
          </a:prstGeom>
          <a:solidFill>
            <a:srgbClr val="009B9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66928" y="455371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— MVP preliminar e evidências de construção da solução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4919472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Vital Analytics  ·  Turma 1TSCOB  ·  Challenge Oracle + FIAP 2026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50468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2,91 mi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943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reais processadas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4315968" y="550468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fontes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4315968" y="5943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 · CNES · IBGE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8065008" y="550468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645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065008" y="5943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analisados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Vital Analytics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863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1TSCOB · Challenge Oracle + FIAP 2026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571750" cy="3657600"/>
          </a:xfrm>
          <a:prstGeom prst="roundRect">
            <a:avLst>
              <a:gd name="adj" fmla="val 3200"/>
            </a:avLst>
          </a:prstGeom>
          <a:solidFill>
            <a:srgbClr val="EEF3F4"/>
          </a:solidFill>
          <a:ln/>
        </p:spPr>
      </p:sp>
      <p:sp>
        <p:nvSpPr>
          <p:cNvPr id="5" name="Shape 3"/>
          <p:cNvSpPr/>
          <p:nvPr/>
        </p:nvSpPr>
        <p:spPr>
          <a:xfrm>
            <a:off x="1432179" y="1773936"/>
            <a:ext cx="841248" cy="84124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32179" y="177393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98064"/>
            <a:ext cx="220599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Giovanny da Silva Santana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602736"/>
            <a:ext cx="2205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570646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950208"/>
            <a:ext cx="22059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e tratamento das três fontes públicas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4710" y="1481328"/>
            <a:ext cx="2571750" cy="3657600"/>
          </a:xfrm>
          <a:prstGeom prst="roundRect">
            <a:avLst>
              <a:gd name="adj" fmla="val 3200"/>
            </a:avLst>
          </a:prstGeom>
          <a:solidFill>
            <a:srgbClr val="EEF3F4"/>
          </a:solidFill>
          <a:ln/>
        </p:spPr>
      </p:sp>
      <p:sp>
        <p:nvSpPr>
          <p:cNvPr id="11" name="Shape 9"/>
          <p:cNvSpPr/>
          <p:nvPr/>
        </p:nvSpPr>
        <p:spPr>
          <a:xfrm>
            <a:off x="4259961" y="1773936"/>
            <a:ext cx="841248" cy="841248"/>
          </a:xfrm>
          <a:prstGeom prst="ellipse">
            <a:avLst/>
          </a:prstGeom>
          <a:solidFill>
            <a:srgbClr val="B582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59961" y="177393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577590" y="2798064"/>
            <a:ext cx="220599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Aurélio da Silva Oliveira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577590" y="3602736"/>
            <a:ext cx="2205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569185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577590" y="3950208"/>
            <a:ext cx="22059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analíticos e validação estatística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22492" y="1481328"/>
            <a:ext cx="2571750" cy="3657600"/>
          </a:xfrm>
          <a:prstGeom prst="roundRect">
            <a:avLst>
              <a:gd name="adj" fmla="val 3200"/>
            </a:avLst>
          </a:prstGeom>
          <a:solidFill>
            <a:srgbClr val="EEF3F4"/>
          </a:solidFill>
          <a:ln/>
        </p:spPr>
      </p:sp>
      <p:sp>
        <p:nvSpPr>
          <p:cNvPr id="17" name="Shape 15"/>
          <p:cNvSpPr/>
          <p:nvPr/>
        </p:nvSpPr>
        <p:spPr>
          <a:xfrm>
            <a:off x="7087743" y="1773936"/>
            <a:ext cx="841248" cy="841248"/>
          </a:xfrm>
          <a:prstGeom prst="ellipse">
            <a:avLst/>
          </a:prstGeom>
          <a:solidFill>
            <a:srgbClr val="D9452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87743" y="177393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405372" y="2798064"/>
            <a:ext cx="220599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Nélson Martins Diniz Neto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5372" y="3602736"/>
            <a:ext cx="2205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573273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05372" y="3950208"/>
            <a:ext cx="22059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Arquitetura, Oracle e Select AI · representante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50274" y="1481328"/>
            <a:ext cx="2571750" cy="3657600"/>
          </a:xfrm>
          <a:prstGeom prst="roundRect">
            <a:avLst>
              <a:gd name="adj" fmla="val 3200"/>
            </a:avLst>
          </a:prstGeom>
          <a:solidFill>
            <a:srgbClr val="EEF3F4"/>
          </a:solidFill>
          <a:ln/>
        </p:spPr>
      </p:sp>
      <p:sp>
        <p:nvSpPr>
          <p:cNvPr id="23" name="Shape 21"/>
          <p:cNvSpPr/>
          <p:nvPr/>
        </p:nvSpPr>
        <p:spPr>
          <a:xfrm>
            <a:off x="9915525" y="1773936"/>
            <a:ext cx="841248" cy="841248"/>
          </a:xfrm>
          <a:prstGeom prst="ellipse">
            <a:avLst/>
          </a:prstGeom>
          <a:solidFill>
            <a:srgbClr val="7A4FA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915525" y="177393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9233154" y="2798064"/>
            <a:ext cx="220599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Henrique Inocente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233154" y="3602736"/>
            <a:ext cx="2205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4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570201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233154" y="3950208"/>
            <a:ext cx="22059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evidências visuais e vídeo pitch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535838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 listados em ordem alfabética, conforme as regras de entrega do Challenge.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mudou da Sprint 1 para a Sprint 2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863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uma arquitetura desenhada para um MVP rodando com dados reais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188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DIMENSÃO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2670048" y="11887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— IDEAÇÃO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242048" y="1188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— CONSTRUÇÃO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66928" y="1517904"/>
            <a:ext cx="11055096" cy="585216"/>
          </a:xfrm>
          <a:prstGeom prst="roundRect">
            <a:avLst>
              <a:gd name="adj" fmla="val 14063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517904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670048" y="15179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ilustrativos nos protótipos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922008" y="1737360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42048" y="15179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2.913.953 internações reais do SIH/SUS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17627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70048" y="217627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escolhidas e justificadas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922008" y="2395728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242048" y="217627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extraídas, integradas e carregadas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34640"/>
            <a:ext cx="11055096" cy="585216"/>
          </a:xfrm>
          <a:prstGeom prst="roundRect">
            <a:avLst>
              <a:gd name="adj" fmla="val 14063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2834640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670048" y="283464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Desenho conceitual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922008" y="3054096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42048" y="283464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executável em um comando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3493008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670048" y="349300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propostos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922008" y="3712464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242048" y="349300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índice composto e regressão rodando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151376"/>
            <a:ext cx="11055096" cy="585216"/>
          </a:xfrm>
          <a:prstGeom prst="roundRect">
            <a:avLst>
              <a:gd name="adj" fmla="val 14063"/>
            </a:avLst>
          </a:prstGeom>
          <a:solidFill>
            <a:srgbClr val="EEF3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151376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670048" y="415137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estático de tela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922008" y="4370832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242048" y="415137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navegável com filtros e drill-down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809744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AI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670048" y="480974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Diferencial planejado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922008" y="5029200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242048" y="480974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prontos e 7 perguntas de negócio validadas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 atualizada — quadro de gestão ágil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real das atividades planejadas na Sprint 1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502152" cy="3401568"/>
          </a:xfrm>
          <a:prstGeom prst="roundRect">
            <a:avLst>
              <a:gd name="adj" fmla="val 2419"/>
            </a:avLst>
          </a:prstGeom>
          <a:solidFill>
            <a:srgbClr val="EEF3F4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700784"/>
            <a:ext cx="3099816" cy="384048"/>
          </a:xfrm>
          <a:prstGeom prst="roundRect">
            <a:avLst>
              <a:gd name="adj" fmla="val 14286"/>
            </a:avLst>
          </a:prstGeom>
          <a:solidFill>
            <a:srgbClr val="009B9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1700784"/>
            <a:ext cx="3099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CONCLUÍDO   8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267712"/>
            <a:ext cx="29535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das três fontes públicas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próprio para o TabNet/DATASUS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e modelo dimensional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gestão hospitalar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índice e regressão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navegável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SQL do Autonomous Database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técnico e documentação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481328"/>
            <a:ext cx="3502152" cy="3401568"/>
          </a:xfrm>
          <a:prstGeom prst="roundRect">
            <a:avLst>
              <a:gd name="adj" fmla="val 2419"/>
            </a:avLst>
          </a:prstGeom>
          <a:solidFill>
            <a:srgbClr val="EEF3F4"/>
          </a:solidFill>
          <a:ln/>
        </p:spPr>
      </p:sp>
      <p:sp>
        <p:nvSpPr>
          <p:cNvPr id="11" name="Shape 9"/>
          <p:cNvSpPr/>
          <p:nvPr/>
        </p:nvSpPr>
        <p:spPr>
          <a:xfrm>
            <a:off x="4544568" y="1700784"/>
            <a:ext cx="3099816" cy="384048"/>
          </a:xfrm>
          <a:prstGeom prst="roundRect">
            <a:avLst>
              <a:gd name="adj" fmla="val 14286"/>
            </a:avLst>
          </a:prstGeom>
          <a:solidFill>
            <a:srgbClr val="B582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44568" y="1700784"/>
            <a:ext cx="3099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ANDAMENTO   4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267712"/>
            <a:ext cx="29535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Provisionamento do Autonomous Database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 do perfil Select AI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das evidências do ambiente Oracle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Gravação e edição do vídeo pitch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19872" y="1481328"/>
            <a:ext cx="3502152" cy="3401568"/>
          </a:xfrm>
          <a:prstGeom prst="roundRect">
            <a:avLst>
              <a:gd name="adj" fmla="val 2419"/>
            </a:avLst>
          </a:prstGeom>
          <a:solidFill>
            <a:srgbClr val="EEF3F4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1700784"/>
            <a:ext cx="3099816" cy="384048"/>
          </a:xfrm>
          <a:prstGeom prst="roundRect">
            <a:avLst>
              <a:gd name="adj" fmla="val 14286"/>
            </a:avLst>
          </a:prstGeom>
          <a:solidFill>
            <a:srgbClr val="6B859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1700784"/>
            <a:ext cx="3099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EVOLUÇÃO   5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394192" y="2267712"/>
            <a:ext cx="29535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 agendada (DBMS_SCHEDULER)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Expansão para as demais UFs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preditivo com Oracle AutoML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ativos ao gestor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por região de saúde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512064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Scrum com quadro Kanban. As atividades não concluídas permanecem no quadro com o status em que se encontram, conforme exigido na entrega.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implementado — o escopo que foi entregue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que orientou o recorte: um MVP que funciona vale mais que um plano que promete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381244" cy="3291840"/>
          </a:xfrm>
          <a:prstGeom prst="roundRect">
            <a:avLst>
              <a:gd name="adj" fmla="val 25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832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ENTROU NO MVP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103120"/>
            <a:ext cx="483260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públicas extraídas e integradas — 12 meses de dados reais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dimensional com uma dimensão e três tabelas fato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indicadores de gestão calculados por município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modelos analíticos com métricas de avaliação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navegável com filtros, ordenação e drill-down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Oracle completos e sete perguntas de negócio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40780" y="1481328"/>
            <a:ext cx="5381244" cy="3291840"/>
          </a:xfrm>
          <a:prstGeom prst="roundRect">
            <a:avLst>
              <a:gd name="adj" fmla="val 2500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5100" y="1700784"/>
            <a:ext cx="4832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6B85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FICOU PARA A PRÓXIMA EVOLUÇÃO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5100" y="2103120"/>
            <a:ext cx="483260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 agendada — hoje o pipeline roda sob demanda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nacional — o MVP cobre São Paulo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preditivo — 12 observações são poucas para validar previsão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medida em vez de estimada — depende de integração com a regulação estadual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por perfil de gestor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956048"/>
            <a:ext cx="11055096" cy="1060704"/>
          </a:xfrm>
          <a:prstGeom prst="roundRect">
            <a:avLst>
              <a:gd name="adj" fmla="val 7759"/>
            </a:avLst>
          </a:prstGeom>
          <a:solidFill>
            <a:srgbClr val="0A2A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7824" y="5120640"/>
            <a:ext cx="10433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gerado para o problema proposto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5413248"/>
            <a:ext cx="10433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Secretaria de Saúde consegue hoje, em uma pergunta, a resposta que antes exigia um analista, uma extração e alguns dias de espera. O painel identificou 15 municípios com capacidade ultrapassada e 31 em faixa de atenção — 46 pontos concretos onde a decisão de leito precisa ser revista.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em funcionamento — visão geral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inicial do painel: os números que abrem a conversa com o gestor</a:t>
            </a:r>
            <a:endParaRPr lang="en-US" sz="1250" dirty="0"/>
          </a:p>
        </p:txBody>
      </p:sp>
      <p:pic>
        <p:nvPicPr>
          <p:cNvPr id="6" name="Image 0" descr="/home/claude/pulso/docs/evidencias/d1_dashboard_visao_g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6759245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444752"/>
            <a:ext cx="6759245" cy="4224528"/>
          </a:xfrm>
          <a:prstGeom prst="rect">
            <a:avLst/>
          </a:prstGeom>
          <a:ln w="9525">
            <a:solidFill>
              <a:srgbClr val="D3DF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0493" y="1444752"/>
            <a:ext cx="4021531" cy="4224528"/>
          </a:xfrm>
          <a:prstGeom prst="roundRect">
            <a:avLst>
              <a:gd name="adj" fmla="val 2046"/>
            </a:avLst>
          </a:prstGeom>
          <a:solidFill>
            <a:srgbClr val="EEF3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56525" y="1682496"/>
            <a:ext cx="35094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TELA MOSTRA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856525" y="2029968"/>
            <a:ext cx="3509467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seis indicadores de topo respondem em cinco segundos o estado da rede: 2,91 milhões de internações, R$ 5,69 bilhões executados, 55.090 leitos SUS e — o número que motiva a ação — 15 municípios com capacidade ultrapassada. Abaixo, a série mensal com a linha de tendência ajustada por regressão.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8155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no ar: </a:t>
            </a:r>
            <a:pPr indent="0" marL="0">
              <a:buNone/>
            </a:pPr>
            <a:r>
              <a:rPr lang="en-US" sz="105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nelsondiniz-p.github.io/pulso-vital-analytics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em funcionamento — detalhamento por município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visão do estado ao caso concreto, sem sair da tela</a:t>
            </a:r>
            <a:endParaRPr lang="en-US" sz="1250" dirty="0"/>
          </a:p>
        </p:txBody>
      </p:sp>
      <p:pic>
        <p:nvPicPr>
          <p:cNvPr id="6" name="Image 0" descr="/home/claude/pulso/docs/evidencias/d3_dashboard_municipio_drill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6759245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444752"/>
            <a:ext cx="6759245" cy="4224528"/>
          </a:xfrm>
          <a:prstGeom prst="rect">
            <a:avLst/>
          </a:prstGeom>
          <a:ln w="9525">
            <a:solidFill>
              <a:srgbClr val="D3DF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0493" y="1444752"/>
            <a:ext cx="4021531" cy="4224528"/>
          </a:xfrm>
          <a:prstGeom prst="roundRect">
            <a:avLst>
              <a:gd name="adj" fmla="val 2046"/>
            </a:avLst>
          </a:prstGeom>
          <a:solidFill>
            <a:srgbClr val="EEF3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56525" y="1682496"/>
            <a:ext cx="35094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TELA MOSTRA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856525" y="2029968"/>
            <a:ext cx="3509467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tabela filtra por nome, região intermediária e situação de capacidade, e ordena por qualquer indicador. Ao selecionar um município, o painel abre a série mensal, os dez indicadores calculados e o perfil assistencial dominante. Jundiaí, no exemplo, opera a 105,0% de ocupação estimada sobre 443 leitos SUS.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8155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no ar: </a:t>
            </a:r>
            <a:pPr indent="0" marL="0">
              <a:buNone/>
            </a:pPr>
            <a:r>
              <a:rPr lang="en-US" sz="105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nelsondiniz-p.github.io/pulso-vital-analytics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em funcionamento — Pergunte ao PULSO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diferencial da solução: pergunta em português, SQL gerado pelo banco</a:t>
            </a:r>
            <a:endParaRPr lang="en-US" sz="1250" dirty="0"/>
          </a:p>
        </p:txBody>
      </p:sp>
      <p:pic>
        <p:nvPicPr>
          <p:cNvPr id="6" name="Image 0" descr="/home/claude/pulso/docs/evidencias/d4_dashboard_pergunte_ao_pul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6759245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444752"/>
            <a:ext cx="6759245" cy="4224528"/>
          </a:xfrm>
          <a:prstGeom prst="rect">
            <a:avLst/>
          </a:prstGeom>
          <a:ln w="9525">
            <a:solidFill>
              <a:srgbClr val="D3DF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0493" y="1444752"/>
            <a:ext cx="4021531" cy="4224528"/>
          </a:xfrm>
          <a:prstGeom prst="roundRect">
            <a:avLst>
              <a:gd name="adj" fmla="val 2046"/>
            </a:avLst>
          </a:prstGeom>
          <a:solidFill>
            <a:srgbClr val="EEF3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56525" y="1682496"/>
            <a:ext cx="35094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TELA MOSTRA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856525" y="2029968"/>
            <a:ext cx="3509467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é a camada Select AI do Autonomous Database. O gestor escolhe ou digita a pergunta; o banco gera o SQL, executa e devolve o resultado com a leitura de negócio. O painel mostra os três: a resposta em linguagem natural, a consulta gerada e a tabela — porque auditar o SQL é parte da confiança na resposta.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8155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no ar: </a:t>
            </a:r>
            <a:pPr indent="0" marL="0">
              <a:buNone/>
            </a:pPr>
            <a:r>
              <a:rPr lang="en-US" sz="105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nelsondiniz-p.github.io/pulso-vital-analytics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final implementada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camadas, da fonte pública à resposta em linguagem natural</a:t>
            </a:r>
            <a:endParaRPr lang="en-US" sz="1250" dirty="0"/>
          </a:p>
        </p:txBody>
      </p:sp>
      <p:pic>
        <p:nvPicPr>
          <p:cNvPr id="6" name="Image 0" descr="/home/claude/pulso/docs/evidencias/a1_arquitetura_camad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11055096" cy="43159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97296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componentes em cor cheia foram efetivamente construídos. A camada Oracle está implementada em scripts (DDL, ingestão nos três mecanismos, views e perfil Select AI), prontos para execução no Autonomous Database.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fontes, três formatos — e por que cada um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escolha do formato não é decorativa: cada fonte está no formato que a natureza dela pede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514344" cy="4315968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700784"/>
            <a:ext cx="300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SIH/SUS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1115568" cy="274320"/>
          </a:xfrm>
          <a:prstGeom prst="roundRect">
            <a:avLst>
              <a:gd name="adj" fmla="val 16667"/>
            </a:avLst>
          </a:prstGeom>
          <a:solidFill>
            <a:srgbClr val="009B9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RELACIONAL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87168"/>
            <a:ext cx="3002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Internações, valor pago, permanência média e capítulo CID-10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163824"/>
            <a:ext cx="300228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transacional com grão definido, métricas aditivas e dimensões estáveis. É o caso clássico de modelo dimensional — e é o que o Select AI consulta melhor.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4901184"/>
            <a:ext cx="3002280" cy="18288"/>
          </a:xfrm>
          <a:prstGeom prst="rect">
            <a:avLst/>
          </a:prstGeom>
          <a:solidFill>
            <a:srgbClr val="D3DFE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5010912"/>
            <a:ext cx="3002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3.847 registros mensais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5.781 registros por CID-10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37304" y="1481328"/>
            <a:ext cx="3514344" cy="4315968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93336" y="1700784"/>
            <a:ext cx="300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93336" y="2103120"/>
            <a:ext cx="632765" cy="274320"/>
          </a:xfrm>
          <a:prstGeom prst="roundRect">
            <a:avLst>
              <a:gd name="adj" fmla="val 16667"/>
            </a:avLst>
          </a:prstGeom>
          <a:solidFill>
            <a:srgbClr val="B582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3336" y="2103120"/>
            <a:ext cx="6327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593336" y="2487168"/>
            <a:ext cx="3002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estabelecimentos hospitalares e leitos de internação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93336" y="3163824"/>
            <a:ext cx="300228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documento tem atributos opcionais: um hospital de ensino tem centro cirúrgico, obstétrico e neonatal; um pronto-atendimento não tem nenhum. Em colunas fixas viraria tabela esparsa. O 23ai consulta JSON nativamente.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93336" y="4901184"/>
            <a:ext cx="3002280" cy="18288"/>
          </a:xfrm>
          <a:prstGeom prst="rect">
            <a:avLst/>
          </a:prstGeom>
          <a:solidFill>
            <a:srgbClr val="D3DFE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93336" y="5010912"/>
            <a:ext cx="3002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B5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905 documentos JSON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B5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55.090 leitos SUS mapeados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07680" y="1481328"/>
            <a:ext cx="3514344" cy="4315968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363712" y="1700784"/>
            <a:ext cx="300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IBGE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363712" y="2103120"/>
            <a:ext cx="1920240" cy="274320"/>
          </a:xfrm>
          <a:prstGeom prst="roundRect">
            <a:avLst>
              <a:gd name="adj" fmla="val 16667"/>
            </a:avLst>
          </a:prstGeom>
          <a:solidFill>
            <a:srgbClr val="7A4FA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63712" y="2103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· EXTERNAL TABLE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8363712" y="2487168"/>
            <a:ext cx="3002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Malha municipal, hierarquia territorial e população residente estimada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363712" y="3163824"/>
            <a:ext cx="300228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de referência, baixo volume, atualização anual e schema estável. Não há ganho em carregá-lo para dentro do banco: o Oracle lê o arquivo no Object Storage como se fosse tabela.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363712" y="4901184"/>
            <a:ext cx="3002280" cy="18288"/>
          </a:xfrm>
          <a:prstGeom prst="rect">
            <a:avLst/>
          </a:prstGeom>
          <a:solidFill>
            <a:srgbClr val="D3DFE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63712" y="5010912"/>
            <a:ext cx="3002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7A4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645 municípios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7A4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46.081.801 habitantes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do dado ponta a ponta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informação percorre a solução, da entrada à geração de insight</a:t>
            </a:r>
            <a:endParaRPr lang="en-US" sz="1250" dirty="0"/>
          </a:p>
        </p:txBody>
      </p:sp>
      <p:pic>
        <p:nvPicPr>
          <p:cNvPr id="6" name="Image 0" descr="/home/claude/pulso/docs/evidencias/a2_fluxo_d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11055096" cy="3108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791456"/>
            <a:ext cx="11055096" cy="1280160"/>
          </a:xfrm>
          <a:prstGeom prst="roundRect">
            <a:avLst>
              <a:gd name="adj" fmla="val 6429"/>
            </a:avLst>
          </a:prstGeom>
          <a:solidFill>
            <a:srgbClr val="EEF3F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77824" y="4956048"/>
            <a:ext cx="10433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obstáculo técnico que precisou ser resolvido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5248656"/>
            <a:ext cx="10433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DATASUS não publica API REST para o SIH. A via oficial é o TabNet: um CGI que responde HTML dos anos 2000, em ISO-8859-1, com tags não fechadas e números em formato brasileiro. Escrevemos um cliente próprio que lê o formulário do cubo, descobre as dimensões disponíveis, monta o POST e faz varredura tolerante do HTML. É o que tornou possível trabalhar com dado real em vez de amostra ilustrativa.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Tecnologias utilizadas e o papel de cada uma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aderente ao ecossistema Oracle, com Python onde ele é insubstituível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719072"/>
            <a:ext cx="2395728" cy="384048"/>
          </a:xfrm>
          <a:prstGeom prst="roundRect">
            <a:avLst>
              <a:gd name="adj" fmla="val 14286"/>
            </a:avLst>
          </a:prstGeom>
          <a:solidFill>
            <a:srgbClr val="009B9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1719072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ORIGEM DOS DADOS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328416" y="1517904"/>
            <a:ext cx="8092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TabNet/DATASUS · API de Dados Abertos do Ministério da Saúde · APIs do IBGE (Localidades e SIDRA)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41448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" y="2642616"/>
            <a:ext cx="2395728" cy="384048"/>
          </a:xfrm>
          <a:prstGeom prst="roundRect">
            <a:avLst>
              <a:gd name="adj" fmla="val 14286"/>
            </a:avLst>
          </a:prstGeom>
          <a:solidFill>
            <a:srgbClr val="123B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64261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PROCESSAMENTO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328416" y="2441448"/>
            <a:ext cx="8092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· pandas · NumPy · urllib — extração, conciliação de chaves e cálculo dos indicadores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64992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15" name="Shape 13"/>
          <p:cNvSpPr/>
          <p:nvPr/>
        </p:nvSpPr>
        <p:spPr>
          <a:xfrm>
            <a:off x="768096" y="3566160"/>
            <a:ext cx="2395728" cy="384048"/>
          </a:xfrm>
          <a:prstGeom prst="roundRect">
            <a:avLst>
              <a:gd name="adj" fmla="val 14286"/>
            </a:avLst>
          </a:prstGeom>
          <a:solidFill>
            <a:srgbClr val="1A4A5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" y="3566160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ARMAZENAMENTO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328416" y="3364992"/>
            <a:ext cx="8092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Autonomous Database 23ai · OCI Object Storage · DBMS_CLOUD (COPY_DATA, COPY_COLLECTION, CREATE_EXTERNAL_TABLE)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288536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4489704"/>
            <a:ext cx="2395728" cy="384048"/>
          </a:xfrm>
          <a:prstGeom prst="roundRect">
            <a:avLst>
              <a:gd name="adj" fmla="val 14286"/>
            </a:avLst>
          </a:prstGeom>
          <a:solidFill>
            <a:srgbClr val="7A4FA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8096" y="4489704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MODELAGEM ANALÍTICA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328416" y="4288536"/>
            <a:ext cx="8092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(K-Means, StandardScaler, silhueta) · NumPy (regressão linear) · SQL analítico com window functions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12080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23" name="Shape 21"/>
          <p:cNvSpPr/>
          <p:nvPr/>
        </p:nvSpPr>
        <p:spPr>
          <a:xfrm>
            <a:off x="768096" y="5413248"/>
            <a:ext cx="2395728" cy="384048"/>
          </a:xfrm>
          <a:prstGeom prst="roundRect">
            <a:avLst>
              <a:gd name="adj" fmla="val 14286"/>
            </a:avLst>
          </a:prstGeom>
          <a:solidFill>
            <a:srgbClr val="D9452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68096" y="5413248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VISUALIZAÇÃO E CONSUMO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3328416" y="5212080"/>
            <a:ext cx="8092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DBMS_CLOUD_AI / Select AI · HTML, CSS e JavaScript sem framework · matplotlib · GitHub Pages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analíticos e técnicas utilizadas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técnicas, cada uma respondendo a uma pergunta de gestão específica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514344" cy="3712464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1737360"/>
            <a:ext cx="402336" cy="402336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1737360"/>
            <a:ext cx="2471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K-MEANS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231136"/>
            <a:ext cx="300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Agrupamento não supervisionado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578608"/>
            <a:ext cx="3002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"Quais municípios se parecem em pressão assistencial?"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3002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atributos padronizados com StandardScaler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k=4 escolhido entre k=2 e k=7 pela silhueta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 municípios no modelo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Silhueta 0,35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37304" y="1481328"/>
            <a:ext cx="3514344" cy="3712464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4593336" y="1737360"/>
            <a:ext cx="402336" cy="402336"/>
          </a:xfrm>
          <a:prstGeom prst="ellipse">
            <a:avLst/>
          </a:prstGeom>
          <a:solidFill>
            <a:srgbClr val="B582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93336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123688" y="1737360"/>
            <a:ext cx="2471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COMPOSTO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93336" y="2231136"/>
            <a:ext cx="300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 min-max ponderada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93336" y="2578608"/>
            <a:ext cx="3002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5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"Por onde a Secretaria deve começar?"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593336" y="3401568"/>
            <a:ext cx="3002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 entre os percentis 5 e 95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40% · demanda 25%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de leitos 20% · aceleração 15%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explícitos — não é caixa-preta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107680" y="1481328"/>
            <a:ext cx="3514344" cy="3712464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21" name="Shape 19"/>
          <p:cNvSpPr/>
          <p:nvPr/>
        </p:nvSpPr>
        <p:spPr>
          <a:xfrm>
            <a:off x="8363712" y="1737360"/>
            <a:ext cx="402336" cy="402336"/>
          </a:xfrm>
          <a:prstGeom prst="ellipse">
            <a:avLst/>
          </a:prstGeom>
          <a:solidFill>
            <a:srgbClr val="D9452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63712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894064" y="1737360"/>
            <a:ext cx="2471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REGRESSÃO LINEAR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363712" y="2231136"/>
            <a:ext cx="300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sobre série temporal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363712" y="2578608"/>
            <a:ext cx="3002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D9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"Onde a demanda cresce de verdade?"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363712" y="3401568"/>
            <a:ext cx="3002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 ajustada em 12 observações mensais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Inclinação normalizada pela média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 séries ajustadas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usado como filtro, não como enfeite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agrupamento revelou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perfis de gestão que exigem decisões diferentes — e às vezes opostas</a:t>
            </a:r>
            <a:endParaRPr lang="en-US" sz="1250" dirty="0"/>
          </a:p>
        </p:txBody>
      </p:sp>
      <p:pic>
        <p:nvPicPr>
          <p:cNvPr id="6" name="Image 0" descr="/home/claude/pulso/docs/evidencias/g4_clus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6858000" cy="4114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62672" y="1463040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9336024" y="146304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0067544" y="146304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OCUP.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0844784" y="146304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7662672" y="1773936"/>
            <a:ext cx="3959352" cy="493776"/>
          </a:xfrm>
          <a:prstGeom prst="roundRect">
            <a:avLst>
              <a:gd name="adj" fmla="val 16667"/>
            </a:avLst>
          </a:prstGeom>
          <a:solidFill>
            <a:srgbClr val="EEF3F4"/>
          </a:solidFill>
          <a:ln/>
        </p:spPr>
      </p:sp>
      <p:sp>
        <p:nvSpPr>
          <p:cNvPr id="12" name="Shape 9"/>
          <p:cNvSpPr/>
          <p:nvPr/>
        </p:nvSpPr>
        <p:spPr>
          <a:xfrm>
            <a:off x="7808976" y="1965960"/>
            <a:ext cx="118872" cy="118872"/>
          </a:xfrm>
          <a:prstGeom prst="ellipse">
            <a:avLst/>
          </a:prstGeom>
          <a:solidFill>
            <a:srgbClr val="D9452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10144" y="1773936"/>
            <a:ext cx="1307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Polo regional sob pressão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9336024" y="1773936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0067544" y="1773936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79,0%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10844784" y="1773936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38,4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662672" y="2340864"/>
            <a:ext cx="3959352" cy="493776"/>
          </a:xfrm>
          <a:prstGeom prst="roundRect">
            <a:avLst>
              <a:gd name="adj" fmla="val 16667"/>
            </a:avLst>
          </a:prstGeom>
          <a:solidFill>
            <a:srgbClr val="EEF3F4"/>
          </a:solidFill>
          <a:ln/>
        </p:spPr>
      </p:sp>
      <p:sp>
        <p:nvSpPr>
          <p:cNvPr id="18" name="Shape 15"/>
          <p:cNvSpPr/>
          <p:nvPr/>
        </p:nvSpPr>
        <p:spPr>
          <a:xfrm>
            <a:off x="7808976" y="2532888"/>
            <a:ext cx="118872" cy="118872"/>
          </a:xfrm>
          <a:prstGeom prst="ellipse">
            <a:avLst/>
          </a:prstGeom>
          <a:solidFill>
            <a:srgbClr val="B5820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10144" y="2340864"/>
            <a:ext cx="1307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local pressionada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9336024" y="2340864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0067544" y="2340864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77,0%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10844784" y="2340864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662672" y="2907792"/>
            <a:ext cx="3959352" cy="493776"/>
          </a:xfrm>
          <a:prstGeom prst="roundRect">
            <a:avLst>
              <a:gd name="adj" fmla="val 16667"/>
            </a:avLst>
          </a:prstGeom>
          <a:solidFill>
            <a:srgbClr val="EEF3F4"/>
          </a:solidFill>
          <a:ln/>
        </p:spPr>
      </p:sp>
      <p:sp>
        <p:nvSpPr>
          <p:cNvPr id="24" name="Shape 21"/>
          <p:cNvSpPr/>
          <p:nvPr/>
        </p:nvSpPr>
        <p:spPr>
          <a:xfrm>
            <a:off x="7808976" y="3099816"/>
            <a:ext cx="118872" cy="118872"/>
          </a:xfrm>
          <a:prstGeom prst="ellipse">
            <a:avLst/>
          </a:prstGeom>
          <a:solidFill>
            <a:srgbClr val="7A4FA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010144" y="2907792"/>
            <a:ext cx="1307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 de hospital regional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9336024" y="2907792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067544" y="2907792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76,7%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10844784" y="2907792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117,7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7662672" y="3474720"/>
            <a:ext cx="3959352" cy="493776"/>
          </a:xfrm>
          <a:prstGeom prst="roundRect">
            <a:avLst>
              <a:gd name="adj" fmla="val 16667"/>
            </a:avLst>
          </a:prstGeom>
          <a:solidFill>
            <a:srgbClr val="EEF3F4"/>
          </a:solidFill>
          <a:ln/>
        </p:spPr>
      </p:sp>
      <p:sp>
        <p:nvSpPr>
          <p:cNvPr id="30" name="Shape 27"/>
          <p:cNvSpPr/>
          <p:nvPr/>
        </p:nvSpPr>
        <p:spPr>
          <a:xfrm>
            <a:off x="7808976" y="3666744"/>
            <a:ext cx="118872" cy="118872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010144" y="3474720"/>
            <a:ext cx="1307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com folga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9336024" y="3474720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10067544" y="3474720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31,2%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844784" y="347472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15,6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7662672" y="4114800"/>
            <a:ext cx="3959352" cy="1426464"/>
          </a:xfrm>
          <a:prstGeom prst="roundRect">
            <a:avLst>
              <a:gd name="adj" fmla="val 5769"/>
            </a:avLst>
          </a:prstGeom>
          <a:solidFill>
            <a:srgbClr val="0A2A3B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918704" y="4279392"/>
            <a:ext cx="3447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k=4 e não k=2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7918704" y="4553712"/>
            <a:ext cx="3447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silhueta é maior em k=2 (0,38) do que em k=4 (0,35). Escolhemos k=4 porque k=2 apenas separa rede cheia de rede vazia, o que não orienta decisão. Com quatro grupos aparecem situações que pedem ações opostas: um polo lotado precisa de regulação de fluxo; uma rede com folga, no mesmo estado, precisa de realocação de recurso — não de mais leito.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decisões de método que mudaram o resultado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de dados não é limpeza: é o que separa um ranking útil de um ranking enganoso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381244" cy="4315968"/>
          </a:xfrm>
          <a:prstGeom prst="roundRect">
            <a:avLst>
              <a:gd name="adj" fmla="val 1907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19072"/>
            <a:ext cx="4832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4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 que quase passou despercebido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21284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ENCONTRAMOS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45059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ordenar por ocupação, o topo era dominado por municípios pequenos com permanência média altíssima — Jaci com 98 dias, Itapira com 25. Investigando: são sedes de hospital psiquiátrico e de retaguarda.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31012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DECIDIMOS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54787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com permanência média ≥ 20 dias ficam fora dos modelos de capacidade. Neles a ocupação alta é estrutural, não é crise. Sem esse corte, eles dominavam qualquer ranking e escondiam quem precisa de ação.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440740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ASSIM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464515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corte foi calibrado em 20 dias, não em 8: Guarulhos, com 8,2 dias, é hospital geral complexo e precisa continuar na análise.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40780" y="1481328"/>
            <a:ext cx="5381244" cy="4315968"/>
          </a:xfrm>
          <a:prstGeom prst="roundRect">
            <a:avLst>
              <a:gd name="adj" fmla="val 1907"/>
            </a:avLst>
          </a:prstGeom>
          <a:solidFill>
            <a:srgbClr val="EEF3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15100" y="1719072"/>
            <a:ext cx="4832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8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Crescimento ou apenas oscilação?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221284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ENCONTRAMOS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6515100" y="245059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uma reta em 12 pontos é fácil. Saber quando a reta significa alguma coisa é o problema. Um município aparecia com +48% de crescimento e R² de 0,14.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515100" y="331012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DECIDIMOS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515100" y="354787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R² entrou como filtro em todo lugar onde o painel apresenta tendência. Abaixo de 0,4, a variação é ruído sazonal, não tendência.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15100" y="440740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ASSIM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6515100" y="464515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265 séries ajustadas, apenas 20 têm R² ≥ 0,5. O R² mediano do conjunto é 0,07 — e esse é o resultado correto: a maioria dos municípios oscila em torno da média.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visuais — demanda e capacidade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gráficos são gerados pelo pipeline a partir das fontes públicas</a:t>
            </a:r>
            <a:endParaRPr lang="en-US" sz="1250" dirty="0"/>
          </a:p>
        </p:txBody>
      </p:sp>
      <p:pic>
        <p:nvPicPr>
          <p:cNvPr id="6" name="Image 0" descr="/home/claude/pulso/docs/evidencias/g1_serie_temporal_s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6949440" cy="30358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535424"/>
            <a:ext cx="6949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mensais no estado, com a reta de tendência ajustada. A queda de novembro a fevereiro é sazonal e se repete todo ano — motivo pelo qual o painel compara trimestres equivalentes, não meses isolados.</a:t>
            </a:r>
            <a:endParaRPr lang="en-US" sz="1050" dirty="0"/>
          </a:p>
        </p:txBody>
      </p:sp>
      <p:pic>
        <p:nvPicPr>
          <p:cNvPr id="8" name="Image 1" descr="/home/claude/pulso/docs/evidencias/g7_distribuicao_aler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4112" y="1554480"/>
            <a:ext cx="3840480" cy="2651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54112" y="4297680"/>
            <a:ext cx="3867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321 municípios com rede hospitalar avaliada, 15 operam acima de 100% da capacidade estimada e 31 estão na faixa de atenção.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66928" y="5285232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59536" y="5431536"/>
            <a:ext cx="10469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estimada = (internações × permanência média) ÷ (leitos SUS × 365). O SIH não publica censo diário de leito, então o indicador serve para priorizar verificação, não para auditar — e isso está declarado no painel e na documentação.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visuais — prioridade e perfil assistencial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agir primeiro e o que ocupa o leito paulista</a:t>
            </a:r>
            <a:endParaRPr lang="en-US" sz="1250" dirty="0"/>
          </a:p>
        </p:txBody>
      </p:sp>
      <p:pic>
        <p:nvPicPr>
          <p:cNvPr id="6" name="Image 0" descr="/home/claude/pulso/docs/evidencias/g2_ranking_criticid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5486400" cy="3419856"/>
          </a:xfrm>
          <a:prstGeom prst="rect">
            <a:avLst/>
          </a:prstGeom>
        </p:spPr>
      </p:pic>
      <p:pic>
        <p:nvPicPr>
          <p:cNvPr id="7" name="Image 1" descr="/home/claude/pulso/docs/evidencias/g3_perfil_cid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481328"/>
            <a:ext cx="5431536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6928" y="49377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composto de criticidade: São José do Rio Preto, Jundiaí e Francisco Morato lideram com ocupação acima de 100%.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6199632" y="4626864"/>
            <a:ext cx="5431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capítulos da CID-10 concentram 35,2% da demanda. Gravidez e parto lidera com 369 mil internações — é onde a atenção primária tem maior potencial de desafogar o leito hospitalar.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visuais — tendência e contexto nacional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demanda cresce de verdade, e como São Paulo se compara ao país</a:t>
            </a:r>
            <a:endParaRPr lang="en-US" sz="1250" dirty="0"/>
          </a:p>
        </p:txBody>
      </p:sp>
      <p:pic>
        <p:nvPicPr>
          <p:cNvPr id="6" name="Image 0" descr="/home/claude/pulso/docs/evidencias/g6_tend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5486400" cy="3054096"/>
          </a:xfrm>
          <a:prstGeom prst="rect">
            <a:avLst/>
          </a:prstGeom>
        </p:spPr>
      </p:pic>
      <p:pic>
        <p:nvPicPr>
          <p:cNvPr id="7" name="Image 1" descr="/home/claude/pulso/docs/evidencias/g5_ranking_u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426464"/>
            <a:ext cx="5431536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6928" y="4553712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tendências com R² ≥ 0,4. Guaratinguetá cresce +119% anualizados com R² 0,71 — movimento consistente, não oscilação de um mês.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6199632" y="4553712"/>
            <a:ext cx="54315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 responde por 2,91 milhões das internações do país em 12 meses — quase o dobro do segundo colocado. O recorte estadual do MVP cobre a maior rede do SUS.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66928" y="5340096"/>
            <a:ext cx="11055096" cy="731520"/>
          </a:xfrm>
          <a:prstGeom prst="roundRect">
            <a:avLst>
              <a:gd name="adj" fmla="val 11250"/>
            </a:avLst>
          </a:prstGeom>
          <a:solidFill>
            <a:srgbClr val="EEF3F4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59536" y="5504688"/>
            <a:ext cx="10469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para as demais unidades da federação é troca de parâmetro no cliente do TabNet, não mudança de arquitetura. O custo é tempo de extração.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Oracle — ambiente no ar e carga conferida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Database 23ai Always Free, região Brazil East (São Paulo)</a:t>
            </a:r>
            <a:endParaRPr lang="en-US" sz="1250" dirty="0"/>
          </a:p>
        </p:txBody>
      </p:sp>
      <p:pic>
        <p:nvPicPr>
          <p:cNvPr id="6" name="Image 0" descr="/home/claude/pulso/docs/evidencias/oracle/oracle_01_adb_provisio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5532120" cy="25420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426464"/>
            <a:ext cx="5532120" cy="2542032"/>
          </a:xfrm>
          <a:prstGeom prst="rect">
            <a:avLst/>
          </a:prstGeom>
          <a:ln w="9525">
            <a:solidFill>
              <a:srgbClr val="D3DF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" y="402336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Instância PULSO com status Available</a:t>
            </a:r>
            <a:endParaRPr lang="en-US" sz="1050" dirty="0"/>
          </a:p>
        </p:txBody>
      </p:sp>
      <p:pic>
        <p:nvPicPr>
          <p:cNvPr id="9" name="Image 1" descr="/home/claude/pulso/docs/evidencias/oracle/evidencia_08_contro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68" y="1426464"/>
            <a:ext cx="5239512" cy="254203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73368" y="1426464"/>
            <a:ext cx="5239512" cy="2542032"/>
          </a:xfrm>
          <a:prstGeom prst="rect">
            <a:avLst/>
          </a:prstGeom>
          <a:ln w="9525">
            <a:solidFill>
              <a:srgbClr val="D3DFE3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373368" y="4023360"/>
            <a:ext cx="523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de controle executada dentro do banco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4425696"/>
            <a:ext cx="11055096" cy="1371600"/>
          </a:xfrm>
          <a:prstGeom prst="roundRect">
            <a:avLst>
              <a:gd name="adj" fmla="val 6000"/>
            </a:avLst>
          </a:prstGeom>
          <a:solidFill>
            <a:srgbClr val="0A2A3B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77824" y="4572000"/>
            <a:ext cx="10433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números do banco batem com os do painel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877824" y="4882896"/>
            <a:ext cx="1738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645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877824" y="5266944"/>
            <a:ext cx="1738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2616708" y="4882896"/>
            <a:ext cx="1738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2.913.953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616708" y="5266944"/>
            <a:ext cx="1738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4355592" y="4882896"/>
            <a:ext cx="1738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R$ 5,69 bi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355592" y="5266944"/>
            <a:ext cx="1738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6094476" y="4882896"/>
            <a:ext cx="1738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55.090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6094476" y="5266944"/>
            <a:ext cx="1738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SUS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833360" y="4882896"/>
            <a:ext cx="1738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D94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7833360" y="5266944"/>
            <a:ext cx="1738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críticos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9572244" y="4882896"/>
            <a:ext cx="1738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D94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9572244" y="5266944"/>
            <a:ext cx="1738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atenção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AI — a pergunta em português vira SQL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diferencial da solução, executando no Autonomous Database</a:t>
            </a:r>
            <a:endParaRPr lang="en-US" sz="1250" dirty="0"/>
          </a:p>
        </p:txBody>
      </p:sp>
      <p:pic>
        <p:nvPicPr>
          <p:cNvPr id="6" name="Image 0" descr="/home/claude/pulso/docs/evidencias/oracle/oracle_04_selectai_showsq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6949440" cy="3566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426464"/>
            <a:ext cx="6949440" cy="3566160"/>
          </a:xfrm>
          <a:prstGeom prst="rect">
            <a:avLst/>
          </a:prstGeom>
          <a:ln w="9525">
            <a:solidFill>
              <a:srgbClr val="D3DF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90688" y="1426464"/>
            <a:ext cx="3831336" cy="3566160"/>
          </a:xfrm>
          <a:prstGeom prst="roundRect">
            <a:avLst>
              <a:gd name="adj" fmla="val 2308"/>
            </a:avLst>
          </a:prstGeom>
          <a:solidFill>
            <a:srgbClr val="EEF3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46720" y="1645920"/>
            <a:ext cx="3319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AQUI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1975104"/>
            <a:ext cx="331927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entra em português no DBMS_CLOUD_AI. O banco lê o esquema, gera a consulta, executa e devolve o resultado — sem que ninguém escreva SQL.</a:t>
            </a:r>
            <a:endParaRPr lang="en-US" sz="1100" dirty="0"/>
          </a:p>
          <a:p>
            <a:pPr indent="0" marL="0">
              <a:lnSpc>
                <a:spcPct val="114000"/>
              </a:lnSpc>
              <a:buNone/>
            </a:pPr>
            <a:endParaRPr lang="en-US" sz="11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modificador showsql expõe a consulta gerada. É o que torna a resposta auditável: o gestor não precisa confiar na IA, ele vê o SQL que produziu o número.</a:t>
            </a:r>
            <a:endParaRPr lang="en-US" sz="1100" dirty="0"/>
          </a:p>
          <a:p>
            <a:pPr indent="0" marL="0">
              <a:lnSpc>
                <a:spcPct val="114000"/>
              </a:lnSpc>
              <a:buNone/>
            </a:pPr>
            <a:endParaRPr lang="en-US" sz="11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oito views do object_list são a fronteira do que a IA enxerga, e os COMMENT ON do esquema são o que ensina o negócio a ela.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5120640"/>
            <a:ext cx="11055096" cy="877824"/>
          </a:xfrm>
          <a:prstGeom prst="roundRect">
            <a:avLst>
              <a:gd name="adj" fmla="val 9375"/>
            </a:avLst>
          </a:prstGeom>
          <a:solidFill>
            <a:srgbClr val="EEF3F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9536" y="5266944"/>
            <a:ext cx="10469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A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aprendemos calibrando esta camada.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qualidade do SQL gerado depende inteiramente da riqueza dos comentários do esquema. Quando a coluna não declara os valores que aceita, a IA infere um — e infere errado. Enumerar os domínios no COMMENT ON foi o ajuste que fez a camada responder corretamente.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técnico e código-fonte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código gerado no projeto, versionado e documentado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4937760" cy="4206240"/>
          </a:xfrm>
          <a:prstGeom prst="roundRect">
            <a:avLst>
              <a:gd name="adj" fmla="val 1957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6824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DO REPOSITÓRIO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1975104"/>
            <a:ext cx="43891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run_pipeline.py       orquestrador ponta a ponta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etl/tabnet_client.py  cliente do CGI do DATASUS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etl/extract_*.py      as três fontes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etl/transform.py      integração e indicadores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analytics/modelos.py  K-Means, índice, regressão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viz/                  gráficos e dashboard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sql/                    01 a 05 — Oracle 23ai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notebooks/              análise exploratória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                   dados tratados: raw + processed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                   arquitetura, dicionário,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implantação, evidências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dashboard/              aplicação navegável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779008" y="1481328"/>
            <a:ext cx="5843016" cy="768096"/>
          </a:xfrm>
          <a:prstGeom prst="roundRect">
            <a:avLst>
              <a:gd name="adj" fmla="val 10714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35040" y="1572768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828800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Problema, arquitetura, resultados com dados reais, como executar e limitações declaradas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779008" y="2340864"/>
            <a:ext cx="5843016" cy="768096"/>
          </a:xfrm>
          <a:prstGeom prst="roundRect">
            <a:avLst>
              <a:gd name="adj" fmla="val 10714"/>
            </a:avLst>
          </a:prstGeom>
          <a:solidFill>
            <a:srgbClr val="EEF3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0" y="2432304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docs/arquitetura.md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688336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em cinco camadas, fluxo do dado ponta a ponta, implementado × planejado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79008" y="3200400"/>
            <a:ext cx="5843016" cy="768096"/>
          </a:xfrm>
          <a:prstGeom prst="roundRect">
            <a:avLst>
              <a:gd name="adj" fmla="val 10714"/>
            </a:avLst>
          </a:prstGeom>
          <a:solidFill>
            <a:srgbClr val="EEF3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35040" y="3291840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docs/dicionario_dados.md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547872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campo de cada tabela, com a ressalva metodológica de cada indicador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779008" y="4059936"/>
            <a:ext cx="5843016" cy="768096"/>
          </a:xfrm>
          <a:prstGeom prst="roundRect">
            <a:avLst>
              <a:gd name="adj" fmla="val 10714"/>
            </a:avLst>
          </a:prstGeom>
          <a:solidFill>
            <a:srgbClr val="EEF3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35040" y="4151376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docs/implantacao_oracle.md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4407408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 da camada Oracle: ordem dos scripts, validação da carga e diagnóstico do Select AI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779008" y="4919472"/>
            <a:ext cx="5843016" cy="768096"/>
          </a:xfrm>
          <a:prstGeom prst="roundRect">
            <a:avLst>
              <a:gd name="adj" fmla="val 10714"/>
            </a:avLst>
          </a:prstGeom>
          <a:solidFill>
            <a:srgbClr val="EEF3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035040" y="5010912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notebooks/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035040" y="5266944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exploratória que precedeu e justifica as decisões de modelagem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797296"/>
            <a:ext cx="11055096" cy="475488"/>
          </a:xfrm>
          <a:prstGeom prst="roundRect">
            <a:avLst>
              <a:gd name="adj" fmla="val 17308"/>
            </a:avLst>
          </a:prstGeom>
          <a:solidFill>
            <a:srgbClr val="0A2A3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59536" y="5797296"/>
            <a:ext cx="10469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público:   github.com/nelsondiniz-p/pulso-vital-analytics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pitch e demonstração hands on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minutos: problema, solução, demonstração ao vivo e resultados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7" name="Shape 5"/>
          <p:cNvSpPr/>
          <p:nvPr/>
        </p:nvSpPr>
        <p:spPr>
          <a:xfrm>
            <a:off x="749808" y="1618488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009B9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6184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00:00 – 00:30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48132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e contextualização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327648" y="1481328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gestão de saúde decide com o dado do mês passado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194560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12" name="Shape 10"/>
          <p:cNvSpPr/>
          <p:nvPr/>
        </p:nvSpPr>
        <p:spPr>
          <a:xfrm>
            <a:off x="749808" y="23317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009B9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2331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00:30 – 01:00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21945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do projeto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27648" y="2194560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Encurtar o caminho entre a pergunta e a resposta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2907792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3044952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B582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" y="3044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01:00 – 02:00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286000" y="290779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solução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27648" y="2907792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Arquitetura, as três fontes e o diferencial Select AI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3621024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22" name="Shape 20"/>
          <p:cNvSpPr/>
          <p:nvPr/>
        </p:nvSpPr>
        <p:spPr>
          <a:xfrm>
            <a:off x="749808" y="3758184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D945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37581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02:00 – 04:00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286000" y="36210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 da solução funcionando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327648" y="3621024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navegável e Select AI respondendo em português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4334256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27" name="Shape 25"/>
          <p:cNvSpPr/>
          <p:nvPr/>
        </p:nvSpPr>
        <p:spPr>
          <a:xfrm>
            <a:off x="749808" y="4471416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7A4FA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9808" y="44714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04:00 – 04:30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286000" y="4334256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Benefícios gerados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327648" y="4334256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municípios críticos identificados com dado real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6928" y="5047488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32" name="Shape 30"/>
          <p:cNvSpPr/>
          <p:nvPr/>
        </p:nvSpPr>
        <p:spPr>
          <a:xfrm>
            <a:off x="749808" y="5184648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23B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9808" y="51846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04:30 – 05:00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2286000" y="504748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 próximos passos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327648" y="5047488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nacional e ingestão automatizada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5797296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0A2A3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59536" y="5797296"/>
            <a:ext cx="10469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vídeo no YouTube:   </a:t>
            </a:r>
            <a:pPr indent="0" marL="0">
              <a:buNone/>
            </a:pPr>
            <a:r>
              <a:rPr lang="en-US" sz="1200" b="1" dirty="0">
                <a:solidFill>
                  <a:srgbClr val="D9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colar aqui antes de fechar a entrega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2A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ulso/docs/evidencias/logo_pul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9256" y="786384"/>
            <a:ext cx="1572768" cy="89611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1042416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66928" y="1042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1225296" y="1005840"/>
            <a:ext cx="10396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alcançados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1225296" y="1481328"/>
            <a:ext cx="10396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reais, extraídos das fontes públicas em 12 meses — nenhum valor ilustrativo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66928" y="2212848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04672" y="2395728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2.913.953</a:t>
            </a:r>
            <a:endParaRPr lang="en-US" sz="25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962656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processadas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99282" y="2212848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637026" y="2395728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R$ 5,69 bi</a:t>
            </a:r>
            <a:endParaRPr lang="en-US" sz="2500" dirty="0"/>
          </a:p>
        </p:txBody>
      </p:sp>
      <p:sp>
        <p:nvSpPr>
          <p:cNvPr id="12" name="Text 9"/>
          <p:cNvSpPr txBox="1"/>
          <p:nvPr/>
        </p:nvSpPr>
        <p:spPr>
          <a:xfrm>
            <a:off x="3637026" y="2962656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 executado analisado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31636" y="2212848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69380" y="2395728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55.090</a:t>
            </a:r>
            <a:endParaRPr lang="en-US" sz="2500" dirty="0"/>
          </a:p>
        </p:txBody>
      </p:sp>
      <p:sp>
        <p:nvSpPr>
          <p:cNvPr id="15" name="Text 12"/>
          <p:cNvSpPr txBox="1"/>
          <p:nvPr/>
        </p:nvSpPr>
        <p:spPr>
          <a:xfrm>
            <a:off x="6469380" y="2962656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SUS mapeados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063990" y="2212848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301734" y="2395728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645</a:t>
            </a:r>
            <a:endParaRPr lang="en-US" sz="2500" dirty="0"/>
          </a:p>
        </p:txBody>
      </p:sp>
      <p:sp>
        <p:nvSpPr>
          <p:cNvPr id="18" name="Text 15"/>
          <p:cNvSpPr txBox="1"/>
          <p:nvPr/>
        </p:nvSpPr>
        <p:spPr>
          <a:xfrm>
            <a:off x="9301734" y="2962656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cobertos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3785616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4672" y="3968496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94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5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" y="4535424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com capacidade ultrapassada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399282" y="3785616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637026" y="3968496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58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2500" dirty="0"/>
          </a:p>
        </p:txBody>
      </p:sp>
      <p:sp>
        <p:nvSpPr>
          <p:cNvPr id="24" name="Text 21"/>
          <p:cNvSpPr txBox="1"/>
          <p:nvPr/>
        </p:nvSpPr>
        <p:spPr>
          <a:xfrm>
            <a:off x="3637026" y="4535424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em faixa de atenção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231636" y="3785616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69380" y="3968496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500" dirty="0"/>
          </a:p>
        </p:txBody>
      </p:sp>
      <p:sp>
        <p:nvSpPr>
          <p:cNvPr id="27" name="Text 24"/>
          <p:cNvSpPr txBox="1"/>
          <p:nvPr/>
        </p:nvSpPr>
        <p:spPr>
          <a:xfrm>
            <a:off x="6469380" y="4535424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com alta consistente (R² ≥ 0,5)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63990" y="3785616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01734" y="3968496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500" dirty="0"/>
          </a:p>
        </p:txBody>
      </p:sp>
      <p:sp>
        <p:nvSpPr>
          <p:cNvPr id="30" name="Text 27"/>
          <p:cNvSpPr txBox="1"/>
          <p:nvPr/>
        </p:nvSpPr>
        <p:spPr>
          <a:xfrm>
            <a:off x="9301734" y="4535424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de negócio respondidas em português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581558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SIH/SUS (DATASUS) · CNES (Ministério da Saúde) · IBGE (Localidades e SIDRA) — jul/2025 a jun/2026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 próximos passos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MVP provou e para onde a solução evolui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381244" cy="2286000"/>
          </a:xfrm>
          <a:prstGeom prst="roundRect">
            <a:avLst>
              <a:gd name="adj" fmla="val 36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8326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MVP PROVOU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011680"/>
            <a:ext cx="48326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público do SUS é utilizável — o obstáculo é de acesso, não de disponibilidade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em linguagem natural elimina a dependência de analista SQL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de dados é o que separa um ranking útil de um enganoso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40780" y="1481328"/>
            <a:ext cx="5381244" cy="2286000"/>
          </a:xfrm>
          <a:prstGeom prst="roundRect">
            <a:avLst>
              <a:gd name="adj" fmla="val 3600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5100" y="1700784"/>
            <a:ext cx="48326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B5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APRENDEMOS NO CAMINHO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515100" y="2011680"/>
            <a:ext cx="48326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fonte pública mais importante não tem API — foi preciso construir o cliente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métrica estatística nem sempre aponta para a decisão certa (k=2 × k=4)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Declarar a limitação do indicador vale mais do que escondê-la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931920"/>
            <a:ext cx="11055096" cy="1847088"/>
          </a:xfrm>
          <a:prstGeom prst="roundRect">
            <a:avLst>
              <a:gd name="adj" fmla="val 4455"/>
            </a:avLst>
          </a:prstGeom>
          <a:solidFill>
            <a:srgbClr val="0A2A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7824" y="4114800"/>
            <a:ext cx="10433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442569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Curto prazo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523744" y="4425696"/>
            <a:ext cx="8787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 agendada e cobertura das 27 unidades da federação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77824" y="482803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 prazo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523744" y="4828032"/>
            <a:ext cx="8787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preditivo de demanda com Oracle AutoML e alertas ativos ao gestor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77824" y="523036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Longo prazo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523744" y="5230368"/>
            <a:ext cx="8787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medida via integração com a regulação estadual, substituindo a estimativa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943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“Transformar dado público em decisão de saúde na velocidade de uma pergunta.”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1TSCOB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2A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ulso/docs/evidencias/logo_pul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2651760" cy="149961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12724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4041648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Oracle e à FIAP, pela proposta de desafio com dado real e problema real. Ao professor tutor e ao scrum master, pela orientação ao longo das duas sprints.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66928" y="4937760"/>
            <a:ext cx="1463040" cy="32004"/>
          </a:xfrm>
          <a:prstGeom prst="rect">
            <a:avLst/>
          </a:prstGeom>
          <a:solidFill>
            <a:srgbClr val="009B9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66928" y="5175504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Giovanny da Silva Santana · RM 570646        Marco Aurélio da Silva Oliveira · RM 569185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Nélson Martins Diniz Neto · RM 573273        Pedro Henrique Inocente · RM 570201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605332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Vital Analytics · Turma 1TSCOB · Challenge Oracle + FIAP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FIAP · 1TSCOB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PULSO — Evidências de construção · Sprint 2</dc:title>
  <dc:subject>PptxGenJS Presentation</dc:subject>
  <dc:creator>Equipe Vital Analytics</dc:creator>
  <cp:lastModifiedBy>Equipe Vital Analytics</cp:lastModifiedBy>
  <cp:revision>1</cp:revision>
  <dcterms:created xsi:type="dcterms:W3CDTF">2026-08-31T21:36:22Z</dcterms:created>
  <dcterms:modified xsi:type="dcterms:W3CDTF">2026-08-31T21:36:22Z</dcterms:modified>
</cp:coreProperties>
</file>