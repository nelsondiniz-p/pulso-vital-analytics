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Somos a equipe Vital Analytics e este é o PULSO — um painel de acesso hospitalar construído sobre dados públicos do SUS. Na Sprint 1 apresentamos a ideia. Nesta Sprint 2 trazemos o MVP funcionando com dados reais: 2,9 milhões de internações processadas.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rápida da equipe e da divisão de responsabilidades na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resume o salto entre as sprints. O ponto principal: saímos de números ilustrativos para dados reais, e de arquitetura desenhada para pipeline executável.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entrega: documentação de gestão atualizada. O quadro mostra o que foi concluído, o que está em andamento e o que fica para a próxima evolução — nada foi removido do planejamento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entrega: escopo. Fomos deliberadamente enxutos. O que não foi implementado está declarado como evolução planejada, não escondido.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entrega: arquitetura. Cinco camadas — origem, ingestão, armazenamento, modelagem e consumo. Cada fonte entra pelo mecanismo que a natureza dela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fontes não compartilham chave primária: SIH e CNES usam o código IBGE de 6 dígitos, o IBGE usa 7 com dígito verificador. A integração é sempre por código, nunca por nome de município — integrar por nome falha silenciosamente.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domínio técnico. O TabNet não foi feito para ser consumido por programa — resolver isso foi o que destravou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stack prioriza o ecossistema Oracle. Python entra onde ele é insubstituível: consumir o TabNet e treinar os modelos.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entrega: modelos. Cada técnica existe para responder uma pergunta concreta de gestão, não para demonstrar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forte para a banca: sabemos que a métrica aponta para k=2 e escolhemos k=4 conscientemente, porque a métrica otimiza separação estatística, não utilidade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uma pergunta técnica da banca, é sobre isto. Mostra que entendemos o dado, não só a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Quinta entrega: evidências visuais. Declarar a limitação do indicador é parte da entrega — um MVP que esconde o limite é pior que um que o declara.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ranking responde 'por onde começar'. O perfil CID responde 'o que está ocupando o leito' — e aponta para fora do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das evidências visuais, com a ponte para a escalabilidade.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substituir o bloco de código por capturas de tela do ambiente Oracle assim que o Autonomous Database estiver provisionado. A captura mais importante é a do SELECT AI showsql — pergunta em português entrando, SQL saindo.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substituir &lt;usuario&gt; pelo endereço real do repositório antes de gerar o PDF e o vídeo.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inserir o link do YouTube neste slide antes da entrega. O mesmo link vai no arquivo link_video_pitch.txt, dentro do zip.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Oitava entrega: resultados. O ponto a enfatizar é que nenhum número aqui é ilustrativo — todos saem de fonte pública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com a mensagem de impacto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agradecimentos.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932688"/>
            <a:ext cx="12188952" cy="10607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121408"/>
            <a:ext cx="110550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PULSO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182112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Único de Leitos, Saúde e Ocupação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566928" y="3767328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3986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MVP preliminar e evidências de construção da solução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40740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 ·  Turma 1TSCOA  ·  Challenge Oracle + FIAP 2026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2,91 mi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reais processadas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31596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431596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· CNES · IBGE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6500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806500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analisados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Vital Analytics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1TSCOA · Challenge Oracle + FIAP 2026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5" name="Shape 3"/>
          <p:cNvSpPr/>
          <p:nvPr/>
        </p:nvSpPr>
        <p:spPr>
          <a:xfrm>
            <a:off x="1432179" y="1773936"/>
            <a:ext cx="841248" cy="84124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32179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Giovanny da Silva Santana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570646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e tratamento das três fontes públicas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4710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259961" y="1773936"/>
            <a:ext cx="841248" cy="841248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9961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77590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Aurélio da Silva Oliveira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77590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569185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77590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analíticos e validação estatística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2492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087743" y="1773936"/>
            <a:ext cx="841248" cy="841248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7743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Nélson Martins Diniz Neto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5372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573273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5372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Oracle e Select AI · representante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0274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9915525" y="1773936"/>
            <a:ext cx="841248" cy="841248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915525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233154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Inocente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3154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570201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233154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evidências visuais e vídeo pitch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listados em ordem alfabética, conforme as regras de entrega do Challenge.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mudou da Sprint 1 para a Sprint 2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uma arquitetura desenhada para um MVP rodando com dados reais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2670048" y="1188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— IDEAÇÃO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242048" y="1188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517904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1790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70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ilustrativos nos protótipos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922008" y="173736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42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2.913.953 internações reais do SIH/SUS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1762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escolhidas e justificadas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395728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42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extraídas, integradas e carregadas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34640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83464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conceitual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22008" y="3054096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42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executável em um comando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49300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670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propostos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2008" y="3712464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42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composto e regressão rodando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151376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15137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70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estático de tela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922008" y="4370832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242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 e drill-down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0974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AI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670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planejado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2008" y="502920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242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prontos e 7 perguntas de negócio validadas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atualizada — quadro de gestão ágil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real das atividades planejadas na Sprint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   8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das três fontes públicas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próprio para o TabNet/DATASUS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modelo dimensional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gestão hospitalar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e regressão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SQL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técnico e documentação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544568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4568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ANDAMENTO   4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Provisionamento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perfil Select AI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das evidências do ambiente Oracle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Gravação e edição do vídeo pitch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9872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6B859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EVOLUÇÃO   5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(DBMS_SCHEDULER)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para as demais UFs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com Oracle AutoML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ativos ao gestor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região de saúde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1206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Scrum com quadro Kanban. As atividades não concluídas permanecem no quadro com o status em que se encontram, conforme exigido na entrega.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implementado — o escopo que foi entregue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orientou o recorte: um MVP que funciona vale mais que um plano que promete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NO MVP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 extraídas e integradas — 12 meses de dados reais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com uma dimensão e três tabelas fato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indicadores de gestão calculados por município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analíticos com métricas de avaliação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filtros, ordenação e drill-down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Oracle completos e sete perguntas de negócio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6B85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FICOU PARA A PRÓXIMA EVOLUÇÃO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— hoje o pipeline roda sob demanda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nacional — o MVP cobre São Paulo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— 12 observações são poucas para validar previsão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em vez de estimada — depende de integração com a regulação estadual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perfil de gestor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956048"/>
            <a:ext cx="11055096" cy="1060704"/>
          </a:xfrm>
          <a:prstGeom prst="roundRect">
            <a:avLst>
              <a:gd name="adj" fmla="val 7759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5120640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gerado para o problema proposto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5413248"/>
            <a:ext cx="10433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Secretaria de Saúde consegue hoje, em uma pergunta, a resposta que antes exigia um analista, uma extração e alguns dias de espera. O painel identificou 15 municípios com capacidade ultrapassada e 31 em faixa de atenção — 46 pontos concretos onde a decisão de leito precisa ser revista.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visão geral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do painel: os números que abrem a conversa com o gestor</a:t>
            </a:r>
            <a:endParaRPr lang="en-US" sz="1250" dirty="0"/>
          </a:p>
        </p:txBody>
      </p:sp>
      <p:pic>
        <p:nvPicPr>
          <p:cNvPr id="6" name="Image 0" descr="/home/claude/pulso/docs/evidencias/d1_dashboard_visao_g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navegável, sem servidor — roda em GitHub Pages e offline.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detalhamento por município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visão do estado ao caso concreto, sem sair da tela</a:t>
            </a:r>
            <a:endParaRPr lang="en-US" sz="1250" dirty="0"/>
          </a:p>
        </p:txBody>
      </p:sp>
      <p:pic>
        <p:nvPicPr>
          <p:cNvPr id="6" name="Image 0" descr="/home/claude/pulso/docs/evidencias/d3_dashboard_municipio_drill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navegável, sem servidor — roda em GitHub Pages e offline.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Pergunte ao PULSO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 da solução: pergunta em português, SQL gerado pelo banco</a:t>
            </a:r>
            <a:endParaRPr lang="en-US" sz="1250" dirty="0"/>
          </a:p>
        </p:txBody>
      </p:sp>
      <p:pic>
        <p:nvPicPr>
          <p:cNvPr id="6" name="Image 0" descr="/home/claude/pulso/docs/evidencias/d4_dashboard_pergunte_a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navegável, sem servidor — roda em GitHub Pages e offline.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final implementada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camadas, da fonte pública à resposta em linguagem natural</a:t>
            </a:r>
            <a:endParaRPr lang="en-US" sz="1250" dirty="0"/>
          </a:p>
        </p:txBody>
      </p:sp>
      <p:pic>
        <p:nvPicPr>
          <p:cNvPr id="6" name="Image 0" descr="/home/claude/pulso/docs/evidencias/a1_arquitetura_camad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55096" cy="43159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97296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componentes em cor cheia foram efetivamente construídos. A camada Oracle está implementada em scripts (DDL, ingestão nos três mecanismos, views e perfil Select AI), prontos para execução no Autonomous Database.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fontes, três formatos — e por que cada um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do formato não é decorativa: cada fonte está no formato que a natureza dela pede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SIH/SUS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115568" cy="274320"/>
          </a:xfrm>
          <a:prstGeom prst="roundRect">
            <a:avLst>
              <a:gd name="adj" fmla="val 16667"/>
            </a:avLst>
          </a:prstGeom>
          <a:solidFill>
            <a:srgbClr val="009B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valor pago, permanência média e capítulo CID-10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transacional com grão definido, métricas aditivas e dimensões estáveis. É o caso clássico de modelo dimensional — e é o que o Select AI consulta melhor.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3.847 registros mensais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5.781 registros por CID-10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7304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93336" y="2103120"/>
            <a:ext cx="632765" cy="274320"/>
          </a:xfrm>
          <a:prstGeom prst="roundRect">
            <a:avLst>
              <a:gd name="adj" fmla="val 16667"/>
            </a:avLst>
          </a:prstGeom>
          <a:solidFill>
            <a:srgbClr val="B582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3336" y="2103120"/>
            <a:ext cx="6327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estabelecimentos hospitalares e leitos de internação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tem atributos opcionais: um hospital de ensino tem centro cirúrgico, obstétrico e neonatal; um pronto-atendimento não tem nenhum. Em colunas fixas viraria tabela esparsa. O 23ai consulta JSON nativamente.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93336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3336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905 documentos JSON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55.090 leitos SUS mapeados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7680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3712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IBGE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363712" y="2103120"/>
            <a:ext cx="1920240" cy="274320"/>
          </a:xfrm>
          <a:prstGeom prst="roundRect">
            <a:avLst>
              <a:gd name="adj" fmla="val 16667"/>
            </a:avLst>
          </a:prstGeom>
          <a:solidFill>
            <a:srgbClr val="7A4FA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3712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EXTERNAL TABLE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Malha municipal, hierarquia territorial e população residente estimada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363712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de referência, baixo volume, atualização anual e schema estável. Não há ganho em carregá-lo para dentro do banco: o Oracle lê o arquivo no Object Storage como se fosse tabela.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63712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63712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645 municípios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46.081.801 habitantes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do dado ponta a ponta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informação percorre a solução, da entrada à geração de insight</a:t>
            </a:r>
            <a:endParaRPr lang="en-US" sz="1250" dirty="0"/>
          </a:p>
        </p:txBody>
      </p:sp>
      <p:pic>
        <p:nvPicPr>
          <p:cNvPr id="6" name="Image 0" descr="/home/claude/pulso/docs/evidencias/a2_fluxo_d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11055096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791456"/>
            <a:ext cx="11055096" cy="1280160"/>
          </a:xfrm>
          <a:prstGeom prst="roundRect">
            <a:avLst>
              <a:gd name="adj" fmla="val 6429"/>
            </a:avLst>
          </a:prstGeom>
          <a:solidFill>
            <a:srgbClr val="EE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956048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obstáculo técnico que precisou ser resolvido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248656"/>
            <a:ext cx="10433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DATASUS não publica API REST para o SIH. A via oficial é o TabNet: um CGI que responde HTML dos anos 2000, em ISO-8859-1, com tags não fechadas e números em formato brasileiro. Escrevemos um cliente próprio que lê o formulário do cubo, descobre as dimensões disponíveis, monta o POST e faz varredura tolerante do HTML. É o que tornou possível trabalhar com dado real em vez de amostra ilustrativa.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 e o papel de cada uma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aderente ao ecossistema Oracle, com Python onde ele é insubstituível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19072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1907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DOS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328416" y="1517904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TabNet/DATASUS · API de Dados Abertos do Ministério da Saúde · APIs do IBGE (Localidades e SIDRA)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41448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2642616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23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6426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328416" y="2441448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pandas · NumPy · urllib — extração, conciliação de chaves e cálculo dos indicadores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6499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768096" y="3566160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A4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" y="3566160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3364992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Database 23ai · OCI Object Storage · DBMS_CLOUD (COPY_DATA, COPY_COLLECTION, CREATE_EXTERNAL_TABLE)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8536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4489704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7A4F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8096" y="448970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ANALÍTICA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28416" y="4288536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(K-Means, StandardScaler, silhueta) · NumPy (regressão linear) · SQL analítico com window functions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12080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768096" y="5413248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D945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" y="541324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 E CONSUMO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328416" y="5212080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DBMS_CLOUD_AI / Select AI · HTML, CSS e JavaScript sem framework · matplotlib · GitHub Pages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analíticos e técnicas utilizadas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técnicas, cada uma respondendo a uma pergunta de gestão específica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737360"/>
            <a:ext cx="402336" cy="402336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Agrupamento não supervisionado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municípios se parecem em pressão assistencial?"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atributos padronizados com StandardScaler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escolhido entre k=2 e k=7 pela silhueta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 municípios no modelo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Silhueta 0,35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7304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3336" y="1737360"/>
            <a:ext cx="402336" cy="402336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23688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COMPOSTO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93336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min-max ponderada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onde a Secretaria deve começar?"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entre os percentis 5 e 95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40% · demanda 25%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leitos 20% · aceleração 15%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explícitos — não é caixa-preta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07680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1" name="Shape 19"/>
          <p:cNvSpPr/>
          <p:nvPr/>
        </p:nvSpPr>
        <p:spPr>
          <a:xfrm>
            <a:off x="8363712" y="1737360"/>
            <a:ext cx="402336" cy="402336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6371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894064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 LINEAR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63712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sobre série temporal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363712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"Onde a demanda cresce de verdade?"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 ajustada em 12 observações mensais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Inclinação normalizada pela média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séries ajustadas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usado como filtro, não como enfeite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agrupamento revelou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 de gestão que exigem decisões diferentes — e às vezes opostas</a:t>
            </a:r>
            <a:endParaRPr lang="en-US" sz="1250" dirty="0"/>
          </a:p>
        </p:txBody>
      </p:sp>
      <p:pic>
        <p:nvPicPr>
          <p:cNvPr id="6" name="Image 0" descr="/home/claude/pulso/docs/evidencias/g4_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858000" cy="4114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62672" y="1463040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9336024" y="14630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06754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84478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662672" y="1773936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2" name="Shape 9"/>
          <p:cNvSpPr/>
          <p:nvPr/>
        </p:nvSpPr>
        <p:spPr>
          <a:xfrm>
            <a:off x="7808976" y="1965960"/>
            <a:ext cx="118872" cy="118872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10144" y="1773936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 regional sob pressão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336024" y="1773936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0067544" y="177393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79,0%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844784" y="177393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662672" y="2340864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08976" y="2532888"/>
            <a:ext cx="118872" cy="118872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10144" y="2340864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 pressionada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336024" y="2340864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067544" y="234086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77,0%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844784" y="234086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662672" y="2907792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808976" y="3099816"/>
            <a:ext cx="118872" cy="118872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10144" y="2907792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de hospital regional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336024" y="2907792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067544" y="290779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76,7%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10844784" y="290779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117,7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662672" y="3474720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808976" y="3666744"/>
            <a:ext cx="118872" cy="118872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10144" y="3474720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com folga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336024" y="3474720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067544" y="3474720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31,2%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844784" y="347472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15,6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662672" y="4114800"/>
            <a:ext cx="3959352" cy="1426464"/>
          </a:xfrm>
          <a:prstGeom prst="roundRect">
            <a:avLst>
              <a:gd name="adj" fmla="val 5769"/>
            </a:avLst>
          </a:prstGeom>
          <a:solidFill>
            <a:srgbClr val="0A2A3B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918704" y="427939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k=4 e não k=2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918704" y="4553712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silhueta é maior em k=2 (0,38) do que em k=4 (0,35). Escolhemos k=4 porque k=2 apenas separa rede cheia de rede vazia, o que não orienta decisão. Com quatro grupos aparecem situações que pedem ações opostas: um polo lotado precisa de regulação de fluxo; uma rede com folga, no mesmo estado, precisa de realocação de recurso — não de mais leito.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decisões de método que mudaram o resultado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não é limpeza: é o que separa um ranking útil de um ranking enganoso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que quase passou despercebido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ordenar por ocupação, o topo era dominado por municípios pequenos com permanência média altíssima — Jaci com 98 dias, Itapira com 25. Investigando: são sedes de hospital psiquiátrico e de retaguarda.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permanência média ≥ 20 dias ficam fora dos modelos de capacidade. Neles a ocupação alta é estrutural, não é crise. Sem esse corte, eles dominavam qualquer ranking e escondiam quem precisa de ação.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corte foi calibrado em 20 dias, não em 8: Guarulhos, com 8,2 dias, é hospital geral complexo e precisa continuar na análise.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40780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15100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ou apenas oscilação?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uma reta em 12 pontos é fácil. Saber quando a reta significa alguma coisa é o problema. Um município aparecia com +48% de crescimento e R² de 0,14.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515100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R² entrou como filtro em todo lugar onde o painel apresenta tendência. Abaixo de 0,4, a variação é ruído sazonal, não tendência.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15100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515100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265 séries ajustadas, apenas 20 têm R² ≥ 0,5. O R² mediano do conjunto é 0,07 — e esse é o resultado correto: a maioria dos municípios oscila em torno da média.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demanda e capacidade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gráficos são gerados pelo pipeline a partir das fontes públicas</a:t>
            </a:r>
            <a:endParaRPr lang="en-US" sz="1250" dirty="0"/>
          </a:p>
        </p:txBody>
      </p:sp>
      <p:pic>
        <p:nvPicPr>
          <p:cNvPr id="6" name="Image 0" descr="/home/claude/pulso/docs/evidencias/g1_serie_temporal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949440" cy="30358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53542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mensais no estado, com a reta de tendência ajustada. A queda de novembro a fevereiro é sazonal e se repete todo ano — motivo pelo qual o painel compara trimestres equivalentes, não meses isolados.</a:t>
            </a:r>
            <a:endParaRPr lang="en-US" sz="1050" dirty="0"/>
          </a:p>
        </p:txBody>
      </p:sp>
      <p:pic>
        <p:nvPicPr>
          <p:cNvPr id="8" name="Image 1" descr="/home/claude/pulso/docs/evidencias/g7_distribuicao_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1554480"/>
            <a:ext cx="38404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54112" y="4297680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321 municípios com rede hospitalar avaliada, 15 operam acima de 100% da capacidade estimada e 31 estão na faixa de atenção.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28523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estimada = (internações × permanência média) ÷ (leitos SUS × 365). O SIH não publica censo diário de leito, então o indicador serve para priorizar verificação, não para auditar — e isso está declarado no painel e na documentação.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prioridade e perfil assistencial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 primeiro e o que ocupa o leito paulista</a:t>
            </a:r>
            <a:endParaRPr lang="en-US" sz="1250" dirty="0"/>
          </a:p>
        </p:txBody>
      </p:sp>
      <p:pic>
        <p:nvPicPr>
          <p:cNvPr id="6" name="Image 0" descr="/home/claude/pulso/docs/evidencias/g2_ranking_criti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419856"/>
          </a:xfrm>
          <a:prstGeom prst="rect">
            <a:avLst/>
          </a:prstGeom>
        </p:spPr>
      </p:pic>
      <p:pic>
        <p:nvPicPr>
          <p:cNvPr id="7" name="Image 1" descr="/home/claude/pulso/docs/evidencias/g3_perfil_cid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81328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composto de criticidade: São José do Rio Preto, Jundiaí e Francisco Morato lideram com ocupação acima de 100%.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626864"/>
            <a:ext cx="5431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capítulos da CID-10 concentram 35,2% da demanda. Gravidez e parto lidera com 369 mil internações — é onde a atenção primária tem maior potencial de desafogar o leito hospitalar.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tendência e contexto nacional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demanda cresce de verdade, e como São Paulo se compara ao país</a:t>
            </a:r>
            <a:endParaRPr lang="en-US" sz="1250" dirty="0"/>
          </a:p>
        </p:txBody>
      </p:sp>
      <p:pic>
        <p:nvPicPr>
          <p:cNvPr id="6" name="Image 0" descr="/home/claude/pulso/docs/evidencias/g6_tend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054096"/>
          </a:xfrm>
          <a:prstGeom prst="rect">
            <a:avLst/>
          </a:prstGeom>
        </p:spPr>
      </p:pic>
      <p:pic>
        <p:nvPicPr>
          <p:cNvPr id="7" name="Image 1" descr="/home/claude/pulso/docs/evidencias/g5_ranking_u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26464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55371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tendências com R² ≥ 0,4. Guaratinguetá cresce +119% anualizados com R² 0,71 — movimento consistente, não oscilação de um mês.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553712"/>
            <a:ext cx="5431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responde por 2,91 milhões das internações do país em 12 meses — quase o dobro do segundo colocado. O recorte estadual do MVP cobre a maior rede do SUS.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340096"/>
            <a:ext cx="11055096" cy="731520"/>
          </a:xfrm>
          <a:prstGeom prst="roundRect">
            <a:avLst>
              <a:gd name="adj" fmla="val 11250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504688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para as demais unidades da federação é troca de parâmetro no cliente do TabNet, não mudança de arquitetura. O custo é tempo de extração.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Oracle — Select AI e persistência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gestor pergunta em português; o banco gera o SQL, executa e responde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44752"/>
            <a:ext cx="5779008" cy="4224528"/>
          </a:xfrm>
          <a:prstGeom prst="roundRect">
            <a:avLst>
              <a:gd name="adj" fmla="val 1948"/>
            </a:avLst>
          </a:prstGeom>
          <a:solidFill>
            <a:srgbClr val="0A2A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45920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IA CONFIGURADO NO AUTONOMOUS DATABASE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56816"/>
            <a:ext cx="5230368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DBMS_CLOUD_AI.CREATE_PROFILE(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profile_name =&gt; 'PULSO_AI',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attributes   =&gt; '{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"provider"        : "openai",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"credential_name" : "CRED_IA_PULSO",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"comments"        : "true",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"object_list"     : [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{"owner":"ADMIN","name":"mv_indicadores_municipio"},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{"owner":"ADMIN","name":"mv_ranking_criticidade"},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{"owner":"ADMIN","name":"mv_tendencia_municipio"},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{"owner":"ADMIN","name":"vw_perfil_assistencial"}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]}'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AI showsql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'quais municipios estao com a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capacidade hospitalar ultrapassada';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620256" y="1444752"/>
            <a:ext cx="5001768" cy="1975104"/>
          </a:xfrm>
          <a:prstGeom prst="roundRect">
            <a:avLst>
              <a:gd name="adj" fmla="val 4167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94576" y="1645920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MODELAGEM É O QUE FAZ O SELECT AI FUNCIONAR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894576" y="1938528"/>
            <a:ext cx="445312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object_list é a fronteira do que a IA enxerga — expomos oito views de negócio, não as tabelas cruas. E o atributo "comments" faz a IA ler os COMMENT ON do esquema: é o que permite a ela entender que ocupação acima de 100% significa capacidade ultrapassada, sem que isso esteja escrito na pergunta.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0256" y="3566160"/>
            <a:ext cx="5001768" cy="2103120"/>
          </a:xfrm>
          <a:prstGeom prst="roundRect">
            <a:avLst>
              <a:gd name="adj" fmla="val 3913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94576" y="3767328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DE NEGÓCIO IMPLEMENTADAS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894576" y="4078224"/>
            <a:ext cx="44531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ultrapassaram a capacidade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perfis de atendimento mais pressionam a rede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as internações crescem mais rápido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têm poucos leitos para a população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custo médio de internação é mais alto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região concentra mais casos críticos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81558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completos em sql/ — DDL comentado, ingestão nos três mecanismos, views analíticas, perfil de IA e as perguntas com o SQL equivalente escrito à mão para conferência.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técnico e código-fonte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 gerado no projeto, versionado e documentado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82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REPOSITÓRIO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75104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run_pipeline.py       orquestrador ponta a ponta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etl/tabnet_client.py  cliente do CGI do DATASUS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etl/extract_*.py      as três fontes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etl/transform.py      integração e indicadores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analytics/modelos.py  K-Means, índice, regressão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viz/                  gráficos e dashboard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                    01 a 05 — Oracle 23ai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              análise exploratória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data/samples/           amostras versionadas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                   arquitetura, dicionário,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guia Oracle, evidências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              aplicação navegável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79008" y="1481328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572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82880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Problema, arquitetura, resultados com dados reais, como executar e limitações declaradas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79008" y="2340864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432304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docs/arquitetura.md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688336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cinco camadas, fluxo do dado ponta a ponta, implementado × planejado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79008" y="3200400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35040" y="32918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docs/dicionario_dados.md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4787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campo de cada tabela, com a ressalva metodológica de cada indicador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79008" y="4059936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4151376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docs/guia_oracle.md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40740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Provisionamento do Autonomous Database passo a passo, com solução para cada erro comum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79008" y="4919472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35040" y="5010912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526694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que precedeu e justifica as decisões de modelagem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797296"/>
            <a:ext cx="11055096" cy="475488"/>
          </a:xfrm>
          <a:prstGeom prst="roundRect">
            <a:avLst>
              <a:gd name="adj" fmla="val 17308"/>
            </a:avLst>
          </a:prstGeom>
          <a:solidFill>
            <a:srgbClr val="0A2A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9536" y="5797296"/>
            <a:ext cx="10469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público:   github.com/&lt;usuario&gt;/pulso-vital-analytics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pitch e demonstração hands on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minutos: problema, solução, demonstração ao vivo e resultados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61848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184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 – 00:30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e contextualização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27648" y="148132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de saúde decide com o dado do mês passado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3317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00:30 – 01:00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projeto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2194560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Encurtar o caminho entre a pergunta e a resposta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2907792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3044952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B582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01:00 – 02:00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2907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solução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907792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as três fontes e o diferencial Select AI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58184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45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37581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02:00 – 04:00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36210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da solução funcionando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27648" y="3621024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e Select AI respondendo em português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34256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4471416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7A4F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4471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 – 04:30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43342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gerados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4334256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municípios críticos identificados com dado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504748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" y="518464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23B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9808" y="5184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04:30 – 05:00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504748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327648" y="504748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nacional e ingestão automatizada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79729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0A2A3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59536" y="579729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no YouTube:   (inserir antes da entrega)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0" y="256032"/>
            <a:ext cx="12188952" cy="6583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1042416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66928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1225296" y="1005840"/>
            <a:ext cx="10396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alcançados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481328"/>
            <a:ext cx="10396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reais, extraídos das fontes públicas em 12 meses — nenhum valor ilustrativo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2.913.953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processadas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7026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R$ 5,69 bi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3637026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executado analisado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1636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9380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55.090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6469380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mapeados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63990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01734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8" name="Text 15"/>
          <p:cNvSpPr txBox="1"/>
          <p:nvPr/>
        </p:nvSpPr>
        <p:spPr>
          <a:xfrm>
            <a:off x="9301734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5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capacidade ultrapassada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99282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37026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2500" dirty="0"/>
          </a:p>
        </p:txBody>
      </p:sp>
      <p:sp>
        <p:nvSpPr>
          <p:cNvPr id="24" name="Text 21"/>
          <p:cNvSpPr txBox="1"/>
          <p:nvPr/>
        </p:nvSpPr>
        <p:spPr>
          <a:xfrm>
            <a:off x="3637026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em faixa de atenção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69380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500" dirty="0"/>
          </a:p>
        </p:txBody>
      </p:sp>
      <p:sp>
        <p:nvSpPr>
          <p:cNvPr id="27" name="Text 24"/>
          <p:cNvSpPr txBox="1"/>
          <p:nvPr/>
        </p:nvSpPr>
        <p:spPr>
          <a:xfrm>
            <a:off x="6469380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alta consistente (R² ≥ 0,5)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63990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01734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500" dirty="0"/>
          </a:p>
        </p:txBody>
      </p:sp>
      <p:sp>
        <p:nvSpPr>
          <p:cNvPr id="30" name="Text 27"/>
          <p:cNvSpPr txBox="1"/>
          <p:nvPr/>
        </p:nvSpPr>
        <p:spPr>
          <a:xfrm>
            <a:off x="9301734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negócio respondidas em português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8155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SIH/SUS (DATASUS) · CNES (Ministério da Saúde) · IBGE (Localidades e SIDRA) — jul/2025 a jun/2026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 e para onde a solução evolui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público do SUS é utilizável — o obstáculo é de acesso, não de disponibilidade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em linguagem natural elimina a dependência de analista SQL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é o que separa um ranking útil de um enganoso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NO CAMINHO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fonte pública mais importante não tem API — foi preciso construir o cliente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estatística nem sempre aponta para a decisão certa (k=2 × k=4)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a limitação do indicador vale mais do que escondê-la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11055096" cy="1847088"/>
          </a:xfrm>
          <a:prstGeom prst="roundRect">
            <a:avLst>
              <a:gd name="adj" fmla="val 4455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4114800"/>
            <a:ext cx="10433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256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523744" y="4425696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e cobertura das 27 unidades da federação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48280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23744" y="4828032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de demanda com Oracle AutoML e alertas ativos ao gestor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52303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 prazo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23744" y="5230368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via integração com a regulação estadual, substituindo a estimativa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“Transformar dado público em decisão de saúde na velocidade de uma pergunta.”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0" y="1920240"/>
            <a:ext cx="12188952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12724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40416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Oracle e à FIAP, pela proposta de desafio com dado real e problema real. Ao professor tutor e ao scrum master, pela orientação ao longo das duas sprints.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4937760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5175504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Giovanny da Silva Santana · RM 570646        Marco Aurélio da Silva Oliveira · RM 569185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Nélson Martins Diniz Neto · RM 573273        Pedro Henrique Inocente · RM 570201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605332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· Turma 1TSCOA · Challenge Oracle + FIAP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FIAP · 1TSCOA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PULSO — Evidências de construção · Sprint 2</dc:title>
  <dc:subject>PptxGenJS Presentation</dc:subject>
  <dc:creator>Equipe Vital Analytics</dc:creator>
  <cp:lastModifiedBy>Equipe Vital Analytics</cp:lastModifiedBy>
  <cp:revision>1</cp:revision>
  <dcterms:created xsi:type="dcterms:W3CDTF">2026-08-28T10:04:55Z</dcterms:created>
  <dcterms:modified xsi:type="dcterms:W3CDTF">2026-08-28T10:04:55Z</dcterms:modified>
</cp:coreProperties>
</file>