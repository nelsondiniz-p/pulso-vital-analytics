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Somos a equipe Vital Analytics e este é o PULSO — um painel de acesso hospitalar construído sobre dados públicos do SUS. Na Sprint 1 apresentamos a ideia. Nesta Sprint 2 trazemos o MVP funcionando com dados reais: 2,9 milhões de internações processadas.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Apresentação rápida da equipe e da divisão de responsabilidades na Sprint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resume o salto entre as sprints. O ponto principal: saímos de números ilustrativos para dados reais, e de arquitetura desenhada para pipeline executável.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quadro mostra o que foi concluído, o que está em andamento e o que fica para a próxima evolução — nada foi removido do planejamento original.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Fomos deliberadamente enxutos no escopo. O que não foi implementado está declarado como evolução planejada, não escondido.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seis indicadores de topo respondem em cinco segundos o estado da rede: 2,91 milhões de internações, R$ 5,69 bilhões executados, 55.090 leitos SUS e — o número que motiva a ação — 15 municípios com capacidade ultrapassada. Abaixo, a série mensal com a linha de tendência ajustada por regressão.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tabela filtra por nome, região intermediária e situação de capacidade, e ordena por qualquer indicador. Ao selecionar um município, o painel abre a série mensal, os dez indicadores calculados e o perfil assistencial dominante. Jundiaí, no exemplo, opera a 105,0% de ocupação estimada sobre 443 leitos SUS.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é a camada Select AI do Autonomous Database. O gestor escolhe ou digita a pergunta; o banco gera o SQL, executa e devolve o resultado com a leitura de negócio. O painel mostra os três: a resposta em linguagem natural, a consulta gerada e a tabela — porque auditar o SQL é parte da confiança na resposta.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camadas — origem, ingestão, armazenamento, modelagem e consumo. Cada fonte entra pelo mecanismo que a natureza dela pede.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três fontes não compartilham chave primária: SIH e CNES usam o código IBGE de 6 dígitos, o IBGE usa 7 com dígito verificador. A integração é sempre por código, nunca por nome de município — integrar por nome falha silenciosamente.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slide para mostrar domínio técnico. O TabNet não foi feito para ser consumido por programa — resolver isso foi o que destravou o projeto.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stack prioriza o ecossistema Oracle. Python entra onde ele é insubstituível: consumir o TabNet e treinar os modelos.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técnica existe para responder uma pergunta concreta de gestão, não para demonstrar ferramenta.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silhueta aponta para k=2, e escolhemos k=4 conscientemente: a métrica otimiza separação estatística, não utilidade de gestão. Com dois grupos a rede se divide apenas em cheia e vazia, o que não orienta nenhuma decisão.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dois casos mostram que o tratamento de dados é decisão analítica, não limpeza: em ambos, o resultado sem o ajuste apontaria para o município errado.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Declarar a limitação do indicador é parte da entrega — um MVP que esconde o limite é pior que um que o declara.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ranking responde 'por onde começar'. O perfil CID responde 'o que está ocupando o leito' — e aponta para fora do hospital.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 das evidências visuais, com a ponte para a escalabilidade.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object_list é a fronteira do que a IA enxerga, e os COMMENT ON do esquema são o que ensina o negócio a ela. É por isso que a modelagem de dados é o trabalho que faz o Select AI funcionar — não a chamada de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repositório é público e reúne todo o código gerado no projeto: extração, integração, modelos, scripts do Oracle, notebook de análise exploratória e a documentação de arquitetura e implantação.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estrutura do pitch segue os seis blocos sugeridos, com dois minutos reservados à demonstração ao vivo — que é onde a solução se prova.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ponto a enfatizar é que nenhum número aqui é ilustrativo — todos saem de fonte pública verificável.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 com a mensagem de impacto do projeto.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 e agradecimentos.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ulso/docs/evidencias/m2_ecg_branco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0" y="932688"/>
            <a:ext cx="12188952" cy="106070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2121408"/>
            <a:ext cx="1105509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200" b="1" spc="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PULSO</a:t>
            </a:r>
            <a:endParaRPr lang="en-US" sz="62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3182112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09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Único de Leitos, Saúde e Ocupação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566928" y="3767328"/>
            <a:ext cx="1463040" cy="32004"/>
          </a:xfrm>
          <a:prstGeom prst="rect">
            <a:avLst/>
          </a:prstGeom>
          <a:solidFill>
            <a:srgbClr val="009B9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66928" y="3986784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— MVP preliminar e evidências de construção da solução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4407408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Vital Analytics  ·  Turma 1TSCOA  ·  Challenge Oracle + FIAP 2026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513892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009B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2,91 mi</a:t>
            </a:r>
            <a:endParaRPr lang="en-US" sz="250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561441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internações reais processadas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4315968" y="513892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009B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fontes</a:t>
            </a:r>
            <a:endParaRPr lang="en-US" sz="2500" dirty="0"/>
          </a:p>
        </p:txBody>
      </p:sp>
      <p:sp>
        <p:nvSpPr>
          <p:cNvPr id="11" name="Text 8"/>
          <p:cNvSpPr txBox="1"/>
          <p:nvPr/>
        </p:nvSpPr>
        <p:spPr>
          <a:xfrm>
            <a:off x="4315968" y="561441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SIH/SUS · CNES · IBGE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065008" y="513892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009B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645</a:t>
            </a:r>
            <a:endParaRPr lang="en-US" sz="2500" dirty="0"/>
          </a:p>
        </p:txBody>
      </p:sp>
      <p:sp>
        <p:nvSpPr>
          <p:cNvPr id="13" name="Text 10"/>
          <p:cNvSpPr txBox="1"/>
          <p:nvPr/>
        </p:nvSpPr>
        <p:spPr>
          <a:xfrm>
            <a:off x="8065008" y="561441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municípios analisados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11055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Equipe Vital Analytics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Turma 1TSCOA · Challenge Oracle + FIAP 2026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2571750" cy="3657600"/>
          </a:xfrm>
          <a:prstGeom prst="roundRect">
            <a:avLst>
              <a:gd name="adj" fmla="val 3200"/>
            </a:avLst>
          </a:prstGeom>
          <a:solidFill>
            <a:srgbClr val="EEF3F4"/>
          </a:solidFill>
          <a:ln/>
        </p:spPr>
      </p:sp>
      <p:sp>
        <p:nvSpPr>
          <p:cNvPr id="5" name="Shape 3"/>
          <p:cNvSpPr/>
          <p:nvPr/>
        </p:nvSpPr>
        <p:spPr>
          <a:xfrm>
            <a:off x="1432179" y="1773936"/>
            <a:ext cx="841248" cy="841248"/>
          </a:xfrm>
          <a:prstGeom prst="ellipse">
            <a:avLst/>
          </a:prstGeom>
          <a:solidFill>
            <a:srgbClr val="009B9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32179" y="1773936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798064"/>
            <a:ext cx="220599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Giovanny da Silva Santana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3602736"/>
            <a:ext cx="22059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9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570646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3950208"/>
            <a:ext cx="220599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Extração e tratamento das três fontes públicas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94710" y="1481328"/>
            <a:ext cx="2571750" cy="3657600"/>
          </a:xfrm>
          <a:prstGeom prst="roundRect">
            <a:avLst>
              <a:gd name="adj" fmla="val 3200"/>
            </a:avLst>
          </a:prstGeom>
          <a:solidFill>
            <a:srgbClr val="EEF3F4"/>
          </a:solidFill>
          <a:ln/>
        </p:spPr>
      </p:sp>
      <p:sp>
        <p:nvSpPr>
          <p:cNvPr id="11" name="Shape 9"/>
          <p:cNvSpPr/>
          <p:nvPr/>
        </p:nvSpPr>
        <p:spPr>
          <a:xfrm>
            <a:off x="4259961" y="1773936"/>
            <a:ext cx="841248" cy="841248"/>
          </a:xfrm>
          <a:prstGeom prst="ellipse">
            <a:avLst/>
          </a:prstGeom>
          <a:solidFill>
            <a:srgbClr val="B5820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259961" y="1773936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3577590" y="2798064"/>
            <a:ext cx="220599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Aurélio da Silva Oliveira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577590" y="3602736"/>
            <a:ext cx="22059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5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569185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577590" y="3950208"/>
            <a:ext cx="220599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analíticos e validação estatística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22492" y="1481328"/>
            <a:ext cx="2571750" cy="3657600"/>
          </a:xfrm>
          <a:prstGeom prst="roundRect">
            <a:avLst>
              <a:gd name="adj" fmla="val 3200"/>
            </a:avLst>
          </a:prstGeom>
          <a:solidFill>
            <a:srgbClr val="EEF3F4"/>
          </a:solidFill>
          <a:ln/>
        </p:spPr>
      </p:sp>
      <p:sp>
        <p:nvSpPr>
          <p:cNvPr id="17" name="Shape 15"/>
          <p:cNvSpPr/>
          <p:nvPr/>
        </p:nvSpPr>
        <p:spPr>
          <a:xfrm>
            <a:off x="7087743" y="1773936"/>
            <a:ext cx="841248" cy="841248"/>
          </a:xfrm>
          <a:prstGeom prst="ellipse">
            <a:avLst/>
          </a:prstGeom>
          <a:solidFill>
            <a:srgbClr val="D9452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087743" y="1773936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NN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6405372" y="2798064"/>
            <a:ext cx="220599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Nélson Martins Diniz Neto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05372" y="3602736"/>
            <a:ext cx="22059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4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573273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05372" y="3950208"/>
            <a:ext cx="220599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Arquitetura, Oracle e Select AI · representante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050274" y="1481328"/>
            <a:ext cx="2571750" cy="3657600"/>
          </a:xfrm>
          <a:prstGeom prst="roundRect">
            <a:avLst>
              <a:gd name="adj" fmla="val 3200"/>
            </a:avLst>
          </a:prstGeom>
          <a:solidFill>
            <a:srgbClr val="EEF3F4"/>
          </a:solidFill>
          <a:ln/>
        </p:spPr>
      </p:sp>
      <p:sp>
        <p:nvSpPr>
          <p:cNvPr id="23" name="Shape 21"/>
          <p:cNvSpPr/>
          <p:nvPr/>
        </p:nvSpPr>
        <p:spPr>
          <a:xfrm>
            <a:off x="9915525" y="1773936"/>
            <a:ext cx="841248" cy="841248"/>
          </a:xfrm>
          <a:prstGeom prst="ellipse">
            <a:avLst/>
          </a:prstGeom>
          <a:solidFill>
            <a:srgbClr val="7A4FA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915525" y="1773936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9233154" y="2798064"/>
            <a:ext cx="220599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 Henrique Inocente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233154" y="3602736"/>
            <a:ext cx="22059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4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570201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233154" y="3950208"/>
            <a:ext cx="220599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evidências visuais e vídeo pitch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566928" y="5358384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 listados em ordem alfabética, conforme as regras de entrega do Challenge.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66928" y="63825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PULSO · Vital Analytics · 1TSCOA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11073384" y="638251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11055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mudou da Sprint 1 para a Sprint 2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uma arquitetura desenhada para um MVP rodando com dados reais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188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DIMENSÃO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2670048" y="1188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— IDEAÇÃO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242048" y="11887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9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— CONSTRUÇÃO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66928" y="1517904"/>
            <a:ext cx="11055096" cy="585216"/>
          </a:xfrm>
          <a:prstGeom prst="roundRect">
            <a:avLst>
              <a:gd name="adj" fmla="val 14063"/>
            </a:avLst>
          </a:prstGeom>
          <a:solidFill>
            <a:srgbClr val="EEF3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517904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670048" y="1517904"/>
            <a:ext cx="4206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 ilustrativos nos protótipos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922008" y="1737360"/>
            <a:ext cx="256032" cy="146304"/>
          </a:xfrm>
          <a:prstGeom prst="rightArrow">
            <a:avLst/>
          </a:prstGeom>
          <a:solidFill>
            <a:srgbClr val="009B9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242048" y="1517904"/>
            <a:ext cx="4206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2.913.953 internações reais do SIH/SUS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2176272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670048" y="2176272"/>
            <a:ext cx="4206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fontes escolhidas e justificadas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922008" y="2395728"/>
            <a:ext cx="256032" cy="146304"/>
          </a:xfrm>
          <a:prstGeom prst="rightArrow">
            <a:avLst/>
          </a:prstGeom>
          <a:solidFill>
            <a:srgbClr val="009B9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242048" y="2176272"/>
            <a:ext cx="4206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fontes extraídas, integradas e carregadas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2834640"/>
            <a:ext cx="11055096" cy="585216"/>
          </a:xfrm>
          <a:prstGeom prst="roundRect">
            <a:avLst>
              <a:gd name="adj" fmla="val 14063"/>
            </a:avLst>
          </a:prstGeom>
          <a:solidFill>
            <a:srgbClr val="EEF3F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2834640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Arquitetura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670048" y="2834640"/>
            <a:ext cx="4206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Desenho conceitual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922008" y="3054096"/>
            <a:ext cx="256032" cy="146304"/>
          </a:xfrm>
          <a:prstGeom prst="rightArrow">
            <a:avLst/>
          </a:prstGeom>
          <a:solidFill>
            <a:srgbClr val="009B9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242048" y="2834640"/>
            <a:ext cx="4206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executável em um comando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3493008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2670048" y="3493008"/>
            <a:ext cx="4206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propostos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922008" y="3712464"/>
            <a:ext cx="256032" cy="146304"/>
          </a:xfrm>
          <a:prstGeom prst="rightArrow">
            <a:avLst/>
          </a:prstGeom>
          <a:solidFill>
            <a:srgbClr val="009B9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242048" y="3493008"/>
            <a:ext cx="4206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K-Means, índice composto e regressão rodando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66928" y="4151376"/>
            <a:ext cx="11055096" cy="585216"/>
          </a:xfrm>
          <a:prstGeom prst="roundRect">
            <a:avLst>
              <a:gd name="adj" fmla="val 14063"/>
            </a:avLst>
          </a:prstGeom>
          <a:solidFill>
            <a:srgbClr val="EEF3F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31520" y="4151376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670048" y="4151376"/>
            <a:ext cx="4206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Protótipo estático de tela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922008" y="4370832"/>
            <a:ext cx="256032" cy="146304"/>
          </a:xfrm>
          <a:prstGeom prst="rightArrow">
            <a:avLst/>
          </a:prstGeom>
          <a:solidFill>
            <a:srgbClr val="009B98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242048" y="4151376"/>
            <a:ext cx="4206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navegável com filtros e drill-down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731520" y="4809744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AI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2670048" y="4809744"/>
            <a:ext cx="4206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Diferencial planejado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922008" y="5029200"/>
            <a:ext cx="256032" cy="146304"/>
          </a:xfrm>
          <a:prstGeom prst="rightArrow">
            <a:avLst/>
          </a:prstGeom>
          <a:solidFill>
            <a:srgbClr val="009B9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242048" y="4809744"/>
            <a:ext cx="4206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prontos e 7 perguntas de negócio validadas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566928" y="63825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PULSO · Vital Analytics · 1TSCOA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11073384" y="638251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75488" cy="475488"/>
          </a:xfrm>
          <a:prstGeom prst="ellipse">
            <a:avLst/>
          </a:prstGeom>
          <a:solidFill>
            <a:srgbClr val="009B9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25296" y="347472"/>
            <a:ext cx="10396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1 atualizada — quadro de gestão ágil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25296" y="786384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real das atividades planejadas na Sprint 1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3502152" cy="3401568"/>
          </a:xfrm>
          <a:prstGeom prst="roundRect">
            <a:avLst>
              <a:gd name="adj" fmla="val 2419"/>
            </a:avLst>
          </a:prstGeom>
          <a:solidFill>
            <a:srgbClr val="EEF3F4"/>
          </a:solidFill>
          <a:ln/>
        </p:spPr>
      </p:sp>
      <p:sp>
        <p:nvSpPr>
          <p:cNvPr id="7" name="Shape 5"/>
          <p:cNvSpPr/>
          <p:nvPr/>
        </p:nvSpPr>
        <p:spPr>
          <a:xfrm>
            <a:off x="768096" y="1700784"/>
            <a:ext cx="3099816" cy="384048"/>
          </a:xfrm>
          <a:prstGeom prst="roundRect">
            <a:avLst>
              <a:gd name="adj" fmla="val 14286"/>
            </a:avLst>
          </a:prstGeom>
          <a:solidFill>
            <a:srgbClr val="009B9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68096" y="1700784"/>
            <a:ext cx="3099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CONCLUÍDO   8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2267712"/>
            <a:ext cx="295351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Extração das três fontes públicas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próprio para o TabNet/DATASUS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e modelo dimensional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de gestão hospitalar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K-Means, índice e regressão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navegável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SQL do Autonomous Database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 técnico e documentação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1481328"/>
            <a:ext cx="3502152" cy="3401568"/>
          </a:xfrm>
          <a:prstGeom prst="roundRect">
            <a:avLst>
              <a:gd name="adj" fmla="val 2419"/>
            </a:avLst>
          </a:prstGeom>
          <a:solidFill>
            <a:srgbClr val="EEF3F4"/>
          </a:solidFill>
          <a:ln/>
        </p:spPr>
      </p:sp>
      <p:sp>
        <p:nvSpPr>
          <p:cNvPr id="11" name="Shape 9"/>
          <p:cNvSpPr/>
          <p:nvPr/>
        </p:nvSpPr>
        <p:spPr>
          <a:xfrm>
            <a:off x="4544568" y="1700784"/>
            <a:ext cx="3099816" cy="384048"/>
          </a:xfrm>
          <a:prstGeom prst="roundRect">
            <a:avLst>
              <a:gd name="adj" fmla="val 14286"/>
            </a:avLst>
          </a:prstGeom>
          <a:solidFill>
            <a:srgbClr val="B5820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44568" y="1700784"/>
            <a:ext cx="3099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ANDAMENTO   4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267712"/>
            <a:ext cx="295351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Provisionamento do Autonomous Database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 do perfil Select AI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das evidências do ambiente Oracle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Gravação e edição do vídeo pitch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19872" y="1481328"/>
            <a:ext cx="3502152" cy="3401568"/>
          </a:xfrm>
          <a:prstGeom prst="roundRect">
            <a:avLst>
              <a:gd name="adj" fmla="val 2419"/>
            </a:avLst>
          </a:prstGeom>
          <a:solidFill>
            <a:srgbClr val="EEF3F4"/>
          </a:solidFill>
          <a:ln/>
        </p:spPr>
      </p:sp>
      <p:sp>
        <p:nvSpPr>
          <p:cNvPr id="15" name="Shape 13"/>
          <p:cNvSpPr/>
          <p:nvPr/>
        </p:nvSpPr>
        <p:spPr>
          <a:xfrm>
            <a:off x="8321040" y="1700784"/>
            <a:ext cx="3099816" cy="384048"/>
          </a:xfrm>
          <a:prstGeom prst="roundRect">
            <a:avLst>
              <a:gd name="adj" fmla="val 14286"/>
            </a:avLst>
          </a:prstGeom>
          <a:solidFill>
            <a:srgbClr val="6B859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21040" y="1700784"/>
            <a:ext cx="3099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PRÓXIMA EVOLUÇÃO   5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8394192" y="2267712"/>
            <a:ext cx="295351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Ingestão agendada (DBMS_SCHEDULER)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Expansão para as demais UFs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preditivo com Oracle AutoML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ativos ao gestor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por região de saúde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5120640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Scrum com quadro Kanban. As atividades não concluídas permanecem no quadro com o status em que se encontram, conforme exigido na entrega.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63825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PULSO · Vital Analytics · 1TSCOA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11073384" y="638251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75488" cy="475488"/>
          </a:xfrm>
          <a:prstGeom prst="ellipse">
            <a:avLst/>
          </a:prstGeom>
          <a:solidFill>
            <a:srgbClr val="009B9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25296" y="347472"/>
            <a:ext cx="10396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implementado — o escopo que foi entregue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25296" y="786384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regra que orientou o recorte: um MVP que funciona vale mais que um plano que promete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5381244" cy="3291840"/>
          </a:xfrm>
          <a:prstGeom prst="roundRect">
            <a:avLst>
              <a:gd name="adj" fmla="val 2500"/>
            </a:avLst>
          </a:prstGeom>
          <a:solidFill>
            <a:srgbClr val="EEF3F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1248" y="1700784"/>
            <a:ext cx="48326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009B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ENTROU NO MVP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103120"/>
            <a:ext cx="483260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fontes públicas extraídas e integradas — 12 meses de dados reais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dimensional com uma dimensão e três tabelas fato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indicadores de gestão calculados por município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modelos analíticos com métricas de avaliação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navegável com filtros, ordenação e drill-down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Oracle completos e sete perguntas de negócio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40780" y="1481328"/>
            <a:ext cx="5381244" cy="3291840"/>
          </a:xfrm>
          <a:prstGeom prst="roundRect">
            <a:avLst>
              <a:gd name="adj" fmla="val 2500"/>
            </a:avLst>
          </a:prstGeom>
          <a:solidFill>
            <a:srgbClr val="EEF3F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15100" y="1700784"/>
            <a:ext cx="48326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6B85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FICOU PARA A PRÓXIMA EVOLUÇÃO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15100" y="2103120"/>
            <a:ext cx="483260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Ingestão agendada — hoje o pipeline roda sob demanda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nacional — o MVP cobre São Paulo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preditivo — 12 observações são poucas para validar previsão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Ocupação medida em vez de estimada — depende de integração com a regulação estadual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por perfil de gestor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4956048"/>
            <a:ext cx="11055096" cy="1060704"/>
          </a:xfrm>
          <a:prstGeom prst="roundRect">
            <a:avLst>
              <a:gd name="adj" fmla="val 7759"/>
            </a:avLst>
          </a:prstGeom>
          <a:solidFill>
            <a:srgbClr val="0A2A3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77824" y="5120640"/>
            <a:ext cx="10433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9B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gerado para o problema proposto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77824" y="5413248"/>
            <a:ext cx="10433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Secretaria de Saúde consegue hoje, em uma pergunta, a resposta que antes exigia um analista, uma extração e alguns dias de espera. O painel identificou 15 municípios com capacidade ultrapassada e 31 em faixa de atenção — 46 pontos concretos onde a decisão de leito precisa ser revista.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63825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PULSO · Vital Analytics · 1TSCOA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11073384" y="638251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75488" cy="475488"/>
          </a:xfrm>
          <a:prstGeom prst="ellipse">
            <a:avLst/>
          </a:prstGeom>
          <a:solidFill>
            <a:srgbClr val="009B9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25296" y="347472"/>
            <a:ext cx="10396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em funcionamento — visão geral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25296" y="786384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inicial do painel: os números que abrem a conversa com o gestor</a:t>
            </a:r>
            <a:endParaRPr lang="en-US" sz="1250" dirty="0"/>
          </a:p>
        </p:txBody>
      </p:sp>
      <p:pic>
        <p:nvPicPr>
          <p:cNvPr id="6" name="Image 0" descr="/home/claude/pulso/docs/evidencias/d1_dashboard_visao_ger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44752"/>
            <a:ext cx="6759245" cy="42245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444752"/>
            <a:ext cx="6759245" cy="4224528"/>
          </a:xfrm>
          <a:prstGeom prst="rect">
            <a:avLst/>
          </a:prstGeom>
          <a:ln w="9525">
            <a:solidFill>
              <a:srgbClr val="D3DFE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600493" y="1444752"/>
            <a:ext cx="4021531" cy="4224528"/>
          </a:xfrm>
          <a:prstGeom prst="roundRect">
            <a:avLst>
              <a:gd name="adj" fmla="val 2046"/>
            </a:avLst>
          </a:prstGeom>
          <a:solidFill>
            <a:srgbClr val="EEF3F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856525" y="1682496"/>
            <a:ext cx="35094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009B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 TELA MOSTRA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7856525" y="2029968"/>
            <a:ext cx="3509467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seis indicadores de topo respondem em cinco segundos o estado da rede: 2,91 milhões de internações, R$ 5,69 bilhões executados, 55.090 leitos SUS e — o número que motiva a ação — 15 municípios com capacidade ultrapassada. Abaixo, a série mensal com a linha de tendência ajustada por regressão.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566928" y="581558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no ar: </a:t>
            </a:r>
            <a:pPr indent="0" marL="0">
              <a:buNone/>
            </a:pPr>
            <a:r>
              <a:rPr lang="en-US" sz="1050" b="1" dirty="0">
                <a:solidFill>
                  <a:srgbClr val="009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nelsondiniz-p.github.io/pulso-vital-analytics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566928" y="63825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PULSO · Vital Analytics · 1TSCOA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11073384" y="638251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75488" cy="475488"/>
          </a:xfrm>
          <a:prstGeom prst="ellipse">
            <a:avLst/>
          </a:prstGeom>
          <a:solidFill>
            <a:srgbClr val="009B9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25296" y="347472"/>
            <a:ext cx="10396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em funcionamento — detalhamento por município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25296" y="786384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visão do estado ao caso concreto, sem sair da tela</a:t>
            </a:r>
            <a:endParaRPr lang="en-US" sz="1250" dirty="0"/>
          </a:p>
        </p:txBody>
      </p:sp>
      <p:pic>
        <p:nvPicPr>
          <p:cNvPr id="6" name="Image 0" descr="/home/claude/pulso/docs/evidencias/d3_dashboard_municipio_drilldow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44752"/>
            <a:ext cx="6759245" cy="42245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444752"/>
            <a:ext cx="6759245" cy="4224528"/>
          </a:xfrm>
          <a:prstGeom prst="rect">
            <a:avLst/>
          </a:prstGeom>
          <a:ln w="9525">
            <a:solidFill>
              <a:srgbClr val="D3DFE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600493" y="1444752"/>
            <a:ext cx="4021531" cy="4224528"/>
          </a:xfrm>
          <a:prstGeom prst="roundRect">
            <a:avLst>
              <a:gd name="adj" fmla="val 2046"/>
            </a:avLst>
          </a:prstGeom>
          <a:solidFill>
            <a:srgbClr val="EEF3F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856525" y="1682496"/>
            <a:ext cx="35094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009B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 TELA MOSTRA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7856525" y="2029968"/>
            <a:ext cx="3509467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tabela filtra por nome, região intermediária e situação de capacidade, e ordena por qualquer indicador. Ao selecionar um município, o painel abre a série mensal, os dez indicadores calculados e o perfil assistencial dominante. Jundiaí, no exemplo, opera a 105,0% de ocupação estimada sobre 443 leitos SUS.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566928" y="581558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no ar: </a:t>
            </a:r>
            <a:pPr indent="0" marL="0">
              <a:buNone/>
            </a:pPr>
            <a:r>
              <a:rPr lang="en-US" sz="1050" b="1" dirty="0">
                <a:solidFill>
                  <a:srgbClr val="009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nelsondiniz-p.github.io/pulso-vital-analytics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566928" y="63825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PULSO · Vital Analytics · 1TSCOA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11073384" y="638251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75488" cy="475488"/>
          </a:xfrm>
          <a:prstGeom prst="ellipse">
            <a:avLst/>
          </a:prstGeom>
          <a:solidFill>
            <a:srgbClr val="009B9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25296" y="347472"/>
            <a:ext cx="10396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em funcionamento — Pergunte ao PULSO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25296" y="786384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diferencial da solução: pergunta em português, SQL gerado pelo banco</a:t>
            </a:r>
            <a:endParaRPr lang="en-US" sz="1250" dirty="0"/>
          </a:p>
        </p:txBody>
      </p:sp>
      <p:pic>
        <p:nvPicPr>
          <p:cNvPr id="6" name="Image 0" descr="/home/claude/pulso/docs/evidencias/d4_dashboard_pergunte_ao_puls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44752"/>
            <a:ext cx="6759245" cy="42245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444752"/>
            <a:ext cx="6759245" cy="4224528"/>
          </a:xfrm>
          <a:prstGeom prst="rect">
            <a:avLst/>
          </a:prstGeom>
          <a:ln w="9525">
            <a:solidFill>
              <a:srgbClr val="D3DFE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600493" y="1444752"/>
            <a:ext cx="4021531" cy="4224528"/>
          </a:xfrm>
          <a:prstGeom prst="roundRect">
            <a:avLst>
              <a:gd name="adj" fmla="val 2046"/>
            </a:avLst>
          </a:prstGeom>
          <a:solidFill>
            <a:srgbClr val="EEF3F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856525" y="1682496"/>
            <a:ext cx="35094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009B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 TELA MOSTRA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7856525" y="2029968"/>
            <a:ext cx="3509467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é a camada Select AI do Autonomous Database. O gestor escolhe ou digita a pergunta; o banco gera o SQL, executa e devolve o resultado com a leitura de negócio. O painel mostra os três: a resposta em linguagem natural, a consulta gerada e a tabela — porque auditar o SQL é parte da confiança na resposta.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566928" y="581558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no ar: </a:t>
            </a:r>
            <a:pPr indent="0" marL="0">
              <a:buNone/>
            </a:pPr>
            <a:r>
              <a:rPr lang="en-US" sz="1050" b="1" dirty="0">
                <a:solidFill>
                  <a:srgbClr val="009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nelsondiniz-p.github.io/pulso-vital-analytics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566928" y="63825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PULSO · Vital Analytics · 1TSCOA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11073384" y="638251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75488" cy="475488"/>
          </a:xfrm>
          <a:prstGeom prst="ellipse">
            <a:avLst/>
          </a:prstGeom>
          <a:solidFill>
            <a:srgbClr val="009B9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25296" y="347472"/>
            <a:ext cx="10396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Arquitetura final implementada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25296" y="786384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camadas, da fonte pública à resposta em linguagem natural</a:t>
            </a:r>
            <a:endParaRPr lang="en-US" sz="1250" dirty="0"/>
          </a:p>
        </p:txBody>
      </p:sp>
      <p:pic>
        <p:nvPicPr>
          <p:cNvPr id="6" name="Image 0" descr="/home/claude/pulso/docs/evidencias/a1_arquitetura_camad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11055096" cy="431596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66928" y="5797296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componentes em cor cheia foram efetivamente construídos. A camada Oracle está implementada em scripts (DDL, ingestão nos três mecanismos, views e perfil Select AI), prontos para execução no Autonomous Database.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63825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PULSO · Vital Analytics · 1TSCOA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11073384" y="638251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75488" cy="475488"/>
          </a:xfrm>
          <a:prstGeom prst="ellipse">
            <a:avLst/>
          </a:prstGeom>
          <a:solidFill>
            <a:srgbClr val="009B9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25296" y="347472"/>
            <a:ext cx="10396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fontes, três formatos — e por que cada um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25296" y="786384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escolha do formato não é decorativa: cada fonte está no formato que a natureza dela pede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3514344" cy="4315968"/>
          </a:xfrm>
          <a:prstGeom prst="roundRect">
            <a:avLst>
              <a:gd name="adj" fmla="val 2342"/>
            </a:avLst>
          </a:prstGeom>
          <a:solidFill>
            <a:srgbClr val="EEF3F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700784"/>
            <a:ext cx="3002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SIH/SUS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2103120"/>
            <a:ext cx="1115568" cy="274320"/>
          </a:xfrm>
          <a:prstGeom prst="roundRect">
            <a:avLst>
              <a:gd name="adj" fmla="val 16667"/>
            </a:avLst>
          </a:prstGeom>
          <a:solidFill>
            <a:srgbClr val="009B9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103120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RELACIONAL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487168"/>
            <a:ext cx="3002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2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Internações, valor pago, permanência média e capítulo CID-10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163824"/>
            <a:ext cx="300228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 transacional com grão definido, métricas aditivas e dimensões estáveis. É o caso clássico de modelo dimensional — e é o que o Select AI consulta melhor.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2960" y="4901184"/>
            <a:ext cx="3002280" cy="18288"/>
          </a:xfrm>
          <a:prstGeom prst="rect">
            <a:avLst/>
          </a:prstGeom>
          <a:solidFill>
            <a:srgbClr val="D3DFE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5010912"/>
            <a:ext cx="3002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9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3.847 registros mensais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9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5.781 registros por CID-10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37304" y="1481328"/>
            <a:ext cx="3514344" cy="4315968"/>
          </a:xfrm>
          <a:prstGeom prst="roundRect">
            <a:avLst>
              <a:gd name="adj" fmla="val 2342"/>
            </a:avLst>
          </a:prstGeom>
          <a:solidFill>
            <a:srgbClr val="EEF3F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93336" y="1700784"/>
            <a:ext cx="3002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CNES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593336" y="2103120"/>
            <a:ext cx="632765" cy="274320"/>
          </a:xfrm>
          <a:prstGeom prst="roundRect">
            <a:avLst>
              <a:gd name="adj" fmla="val 16667"/>
            </a:avLst>
          </a:prstGeom>
          <a:solidFill>
            <a:srgbClr val="B5820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93336" y="2103120"/>
            <a:ext cx="6327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593336" y="2487168"/>
            <a:ext cx="3002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2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de estabelecimentos hospitalares e leitos de internação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593336" y="3163824"/>
            <a:ext cx="300228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documento tem atributos opcionais: um hospital de ensino tem centro cirúrgico, obstétrico e neonatal; um pronto-atendimento não tem nenhum. Em colunas fixas viraria tabela esparsa. O 23ai consulta JSON nativamente.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93336" y="4901184"/>
            <a:ext cx="3002280" cy="18288"/>
          </a:xfrm>
          <a:prstGeom prst="rect">
            <a:avLst/>
          </a:prstGeom>
          <a:solidFill>
            <a:srgbClr val="D3DFE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93336" y="5010912"/>
            <a:ext cx="3002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B5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905 documentos JSON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B5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55.090 leitos SUS mapeados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107680" y="1481328"/>
            <a:ext cx="3514344" cy="4315968"/>
          </a:xfrm>
          <a:prstGeom prst="roundRect">
            <a:avLst>
              <a:gd name="adj" fmla="val 2342"/>
            </a:avLst>
          </a:prstGeom>
          <a:solidFill>
            <a:srgbClr val="EEF3F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363712" y="1700784"/>
            <a:ext cx="3002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IBGE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363712" y="2103120"/>
            <a:ext cx="1920240" cy="274320"/>
          </a:xfrm>
          <a:prstGeom prst="roundRect">
            <a:avLst>
              <a:gd name="adj" fmla="val 16667"/>
            </a:avLst>
          </a:prstGeom>
          <a:solidFill>
            <a:srgbClr val="7A4FA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363712" y="2103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· EXTERNAL TABLE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8363712" y="2487168"/>
            <a:ext cx="3002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2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Malha municipal, hierarquia territorial e população residente estimada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363712" y="3163824"/>
            <a:ext cx="300228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de referência, baixo volume, atualização anual e schema estável. Não há ganho em carregá-lo para dentro do banco: o Oracle lê o arquivo no Object Storage como se fosse tabela.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363712" y="4901184"/>
            <a:ext cx="3002280" cy="18288"/>
          </a:xfrm>
          <a:prstGeom prst="rect">
            <a:avLst/>
          </a:prstGeom>
          <a:solidFill>
            <a:srgbClr val="D3DFE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363712" y="5010912"/>
            <a:ext cx="3002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7A4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645 municípios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7A4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46.081.801 habitantes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66928" y="63825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PULSO · Vital Analytics · 1TSCOA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11073384" y="638251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75488" cy="475488"/>
          </a:xfrm>
          <a:prstGeom prst="ellipse">
            <a:avLst/>
          </a:prstGeom>
          <a:solidFill>
            <a:srgbClr val="009B9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25296" y="347472"/>
            <a:ext cx="10396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 do dado ponta a ponta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25296" y="786384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informação percorre a solução, da entrada à geração de insight</a:t>
            </a:r>
            <a:endParaRPr lang="en-US" sz="1250" dirty="0"/>
          </a:p>
        </p:txBody>
      </p:sp>
      <p:pic>
        <p:nvPicPr>
          <p:cNvPr id="6" name="Image 0" descr="/home/claude/pulso/docs/evidencias/a2_fluxo_da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17904"/>
            <a:ext cx="11055096" cy="31089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4791456"/>
            <a:ext cx="11055096" cy="1280160"/>
          </a:xfrm>
          <a:prstGeom prst="roundRect">
            <a:avLst>
              <a:gd name="adj" fmla="val 6429"/>
            </a:avLst>
          </a:prstGeom>
          <a:solidFill>
            <a:srgbClr val="EEF3F4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77824" y="4956048"/>
            <a:ext cx="10433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obstáculo técnico que precisou ser resolvido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77824" y="5248656"/>
            <a:ext cx="104333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DATASUS não publica API REST para o SIH. A via oficial é o TabNet: um CGI que responde HTML dos anos 2000, em ISO-8859-1, com tags não fechadas e números em formato brasileiro. Escrevemos um cliente próprio que lê o formulário do cubo, descobre as dimensões disponíveis, monta o POST e faz varredura tolerante do HTML. É o que tornou possível trabalhar com dado real em vez de amostra ilustrativa.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63825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PULSO · Vital Analytics · 1TSCOA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11073384" y="638251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75488" cy="475488"/>
          </a:xfrm>
          <a:prstGeom prst="ellipse">
            <a:avLst/>
          </a:prstGeom>
          <a:solidFill>
            <a:srgbClr val="009B9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25296" y="347472"/>
            <a:ext cx="10396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Tecnologias utilizadas e o papel de cada uma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25296" y="786384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aderente ao ecossistema Oracle, com Python onde ele é insubstituível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517904"/>
            <a:ext cx="11055096" cy="786384"/>
          </a:xfrm>
          <a:prstGeom prst="roundRect">
            <a:avLst>
              <a:gd name="adj" fmla="val 10465"/>
            </a:avLst>
          </a:prstGeom>
          <a:solidFill>
            <a:srgbClr val="EEF3F4"/>
          </a:solidFill>
          <a:ln/>
        </p:spPr>
      </p:sp>
      <p:sp>
        <p:nvSpPr>
          <p:cNvPr id="7" name="Shape 5"/>
          <p:cNvSpPr/>
          <p:nvPr/>
        </p:nvSpPr>
        <p:spPr>
          <a:xfrm>
            <a:off x="768096" y="1719072"/>
            <a:ext cx="2395728" cy="384048"/>
          </a:xfrm>
          <a:prstGeom prst="roundRect">
            <a:avLst>
              <a:gd name="adj" fmla="val 14286"/>
            </a:avLst>
          </a:prstGeom>
          <a:solidFill>
            <a:srgbClr val="009B9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68096" y="1719072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ORIGEM DOS DADOS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3328416" y="1517904"/>
            <a:ext cx="8092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TabNet/DATASUS · API de Dados Abertos do Ministério da Saúde · APIs do IBGE (Localidades e SIDRA)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2441448"/>
            <a:ext cx="11055096" cy="786384"/>
          </a:xfrm>
          <a:prstGeom prst="roundRect">
            <a:avLst>
              <a:gd name="adj" fmla="val 10465"/>
            </a:avLst>
          </a:prstGeom>
          <a:solidFill>
            <a:srgbClr val="EEF3F4"/>
          </a:solidFill>
          <a:ln/>
        </p:spPr>
      </p:sp>
      <p:sp>
        <p:nvSpPr>
          <p:cNvPr id="11" name="Shape 9"/>
          <p:cNvSpPr/>
          <p:nvPr/>
        </p:nvSpPr>
        <p:spPr>
          <a:xfrm>
            <a:off x="768096" y="2642616"/>
            <a:ext cx="2395728" cy="384048"/>
          </a:xfrm>
          <a:prstGeom prst="roundRect">
            <a:avLst>
              <a:gd name="adj" fmla="val 14286"/>
            </a:avLst>
          </a:prstGeom>
          <a:solidFill>
            <a:srgbClr val="123B4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68096" y="2642616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PROCESSAMENTO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3328416" y="2441448"/>
            <a:ext cx="8092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 · pandas · NumPy · urllib — extração, conciliação de chaves e cálculo dos indicadores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364992"/>
            <a:ext cx="11055096" cy="786384"/>
          </a:xfrm>
          <a:prstGeom prst="roundRect">
            <a:avLst>
              <a:gd name="adj" fmla="val 10465"/>
            </a:avLst>
          </a:prstGeom>
          <a:solidFill>
            <a:srgbClr val="EEF3F4"/>
          </a:solidFill>
          <a:ln/>
        </p:spPr>
      </p:sp>
      <p:sp>
        <p:nvSpPr>
          <p:cNvPr id="15" name="Shape 13"/>
          <p:cNvSpPr/>
          <p:nvPr/>
        </p:nvSpPr>
        <p:spPr>
          <a:xfrm>
            <a:off x="768096" y="3566160"/>
            <a:ext cx="2395728" cy="384048"/>
          </a:xfrm>
          <a:prstGeom prst="roundRect">
            <a:avLst>
              <a:gd name="adj" fmla="val 14286"/>
            </a:avLst>
          </a:prstGeom>
          <a:solidFill>
            <a:srgbClr val="1A4A5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68096" y="3566160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ARMAZENAMENTO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3328416" y="3364992"/>
            <a:ext cx="8092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Autonomous Database 23ai · OCI Object Storage · DBMS_CLOUD (COPY_DATA, COPY_COLLECTION, CREATE_EXTERNAL_TABLE)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4288536"/>
            <a:ext cx="11055096" cy="786384"/>
          </a:xfrm>
          <a:prstGeom prst="roundRect">
            <a:avLst>
              <a:gd name="adj" fmla="val 10465"/>
            </a:avLst>
          </a:prstGeom>
          <a:solidFill>
            <a:srgbClr val="EEF3F4"/>
          </a:solidFill>
          <a:ln/>
        </p:spPr>
      </p:sp>
      <p:sp>
        <p:nvSpPr>
          <p:cNvPr id="19" name="Shape 17"/>
          <p:cNvSpPr/>
          <p:nvPr/>
        </p:nvSpPr>
        <p:spPr>
          <a:xfrm>
            <a:off x="768096" y="4489704"/>
            <a:ext cx="2395728" cy="384048"/>
          </a:xfrm>
          <a:prstGeom prst="roundRect">
            <a:avLst>
              <a:gd name="adj" fmla="val 14286"/>
            </a:avLst>
          </a:prstGeom>
          <a:solidFill>
            <a:srgbClr val="7A4FA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8096" y="4489704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MODELAGEM ANALÍTICA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3328416" y="4288536"/>
            <a:ext cx="8092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(K-Means, StandardScaler, silhueta) · NumPy (regressão linear) · SQL analítico com window functions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5212080"/>
            <a:ext cx="11055096" cy="786384"/>
          </a:xfrm>
          <a:prstGeom prst="roundRect">
            <a:avLst>
              <a:gd name="adj" fmla="val 10465"/>
            </a:avLst>
          </a:prstGeom>
          <a:solidFill>
            <a:srgbClr val="EEF3F4"/>
          </a:solidFill>
          <a:ln/>
        </p:spPr>
      </p:sp>
      <p:sp>
        <p:nvSpPr>
          <p:cNvPr id="23" name="Shape 21"/>
          <p:cNvSpPr/>
          <p:nvPr/>
        </p:nvSpPr>
        <p:spPr>
          <a:xfrm>
            <a:off x="768096" y="5413248"/>
            <a:ext cx="2395728" cy="384048"/>
          </a:xfrm>
          <a:prstGeom prst="roundRect">
            <a:avLst>
              <a:gd name="adj" fmla="val 14286"/>
            </a:avLst>
          </a:prstGeom>
          <a:solidFill>
            <a:srgbClr val="D9452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68096" y="5413248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VISUALIZAÇÃO E CONSUMO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3328416" y="5212080"/>
            <a:ext cx="8092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DBMS_CLOUD_AI / Select AI · HTML, CSS e JavaScript sem framework · matplotlib · GitHub Pages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63825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PULSO · Vital Analytics · 1TSCOA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11073384" y="638251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75488" cy="475488"/>
          </a:xfrm>
          <a:prstGeom prst="ellipse">
            <a:avLst/>
          </a:prstGeom>
          <a:solidFill>
            <a:srgbClr val="009B9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25296" y="347472"/>
            <a:ext cx="10396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analíticos e técnicas utilizadas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25296" y="786384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técnicas, cada uma respondendo a uma pergunta de gestão específica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3514344" cy="3712464"/>
          </a:xfrm>
          <a:prstGeom prst="roundRect">
            <a:avLst>
              <a:gd name="adj" fmla="val 2342"/>
            </a:avLst>
          </a:prstGeom>
          <a:solidFill>
            <a:srgbClr val="EEF3F4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737360"/>
            <a:ext cx="402336" cy="402336"/>
          </a:xfrm>
          <a:prstGeom prst="ellipse">
            <a:avLst/>
          </a:prstGeom>
          <a:solidFill>
            <a:srgbClr val="009B9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1737360"/>
            <a:ext cx="2471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K-MEANS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231136"/>
            <a:ext cx="300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Agrupamento não supervisionado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578608"/>
            <a:ext cx="3002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09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"Quais municípios se parecem em pressão assistencial?"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401568"/>
            <a:ext cx="3002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atributos padronizados com StandardScaler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k=4 escolhido entre k=2 e k=7 pela silhueta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321 municípios no modelo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Silhueta 0,35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37304" y="1481328"/>
            <a:ext cx="3514344" cy="3712464"/>
          </a:xfrm>
          <a:prstGeom prst="roundRect">
            <a:avLst>
              <a:gd name="adj" fmla="val 2342"/>
            </a:avLst>
          </a:prstGeom>
          <a:solidFill>
            <a:srgbClr val="EEF3F4"/>
          </a:solidFill>
          <a:ln/>
        </p:spPr>
      </p:sp>
      <p:sp>
        <p:nvSpPr>
          <p:cNvPr id="14" name="Shape 12"/>
          <p:cNvSpPr/>
          <p:nvPr/>
        </p:nvSpPr>
        <p:spPr>
          <a:xfrm>
            <a:off x="4593336" y="1737360"/>
            <a:ext cx="402336" cy="402336"/>
          </a:xfrm>
          <a:prstGeom prst="ellipse">
            <a:avLst/>
          </a:prstGeom>
          <a:solidFill>
            <a:srgbClr val="B5820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93336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123688" y="1737360"/>
            <a:ext cx="2471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 COMPOSTO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93336" y="2231136"/>
            <a:ext cx="300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Normalização min-max ponderada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593336" y="2578608"/>
            <a:ext cx="3002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B5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"Por onde a Secretaria deve começar?"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93336" y="3401568"/>
            <a:ext cx="3002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Normalização entre os percentis 5 e 95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Ocupação 40% · demanda 25%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Escassez de leitos 20% · aceleração 15%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Pesos explícitos — não é caixa-preta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107680" y="1481328"/>
            <a:ext cx="3514344" cy="3712464"/>
          </a:xfrm>
          <a:prstGeom prst="roundRect">
            <a:avLst>
              <a:gd name="adj" fmla="val 2342"/>
            </a:avLst>
          </a:prstGeom>
          <a:solidFill>
            <a:srgbClr val="EEF3F4"/>
          </a:solidFill>
          <a:ln/>
        </p:spPr>
      </p:sp>
      <p:sp>
        <p:nvSpPr>
          <p:cNvPr id="21" name="Shape 19"/>
          <p:cNvSpPr/>
          <p:nvPr/>
        </p:nvSpPr>
        <p:spPr>
          <a:xfrm>
            <a:off x="8363712" y="1737360"/>
            <a:ext cx="402336" cy="402336"/>
          </a:xfrm>
          <a:prstGeom prst="ellipse">
            <a:avLst/>
          </a:prstGeom>
          <a:solidFill>
            <a:srgbClr val="D9452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363712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894064" y="1737360"/>
            <a:ext cx="2471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REGRESSÃO LINEAR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363712" y="2231136"/>
            <a:ext cx="300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sobre série temporal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363712" y="2578608"/>
            <a:ext cx="3002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D94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"Onde a demanda cresce de verdade?"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8363712" y="3401568"/>
            <a:ext cx="3002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 ajustada em 12 observações mensais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Inclinação normalizada pela média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265 séries ajustadas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usado como filtro, não como enfeite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566928" y="63825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PULSO · Vital Analytics · 1TSCOA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11073384" y="638251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75488" cy="475488"/>
          </a:xfrm>
          <a:prstGeom prst="ellipse">
            <a:avLst/>
          </a:prstGeom>
          <a:solidFill>
            <a:srgbClr val="009B9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25296" y="347472"/>
            <a:ext cx="10396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 agrupamento revelou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25296" y="786384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perfis de gestão que exigem decisões diferentes — e às vezes opostas</a:t>
            </a:r>
            <a:endParaRPr lang="en-US" sz="1250" dirty="0"/>
          </a:p>
        </p:txBody>
      </p:sp>
      <p:pic>
        <p:nvPicPr>
          <p:cNvPr id="6" name="Image 0" descr="/home/claude/pulso/docs/evidencias/g4_clust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26464"/>
            <a:ext cx="6858000" cy="41148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662672" y="1463040"/>
            <a:ext cx="1673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9336024" y="146304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MUN.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10067544" y="146304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OCUP.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10844784" y="146304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LEITOS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7662672" y="1773936"/>
            <a:ext cx="3959352" cy="493776"/>
          </a:xfrm>
          <a:prstGeom prst="roundRect">
            <a:avLst>
              <a:gd name="adj" fmla="val 16667"/>
            </a:avLst>
          </a:prstGeom>
          <a:solidFill>
            <a:srgbClr val="EEF3F4"/>
          </a:solidFill>
          <a:ln/>
        </p:spPr>
      </p:sp>
      <p:sp>
        <p:nvSpPr>
          <p:cNvPr id="12" name="Shape 9"/>
          <p:cNvSpPr/>
          <p:nvPr/>
        </p:nvSpPr>
        <p:spPr>
          <a:xfrm>
            <a:off x="7808976" y="1965960"/>
            <a:ext cx="118872" cy="118872"/>
          </a:xfrm>
          <a:prstGeom prst="ellipse">
            <a:avLst/>
          </a:prstGeom>
          <a:solidFill>
            <a:srgbClr val="D9452B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010144" y="1773936"/>
            <a:ext cx="13075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Polo regional sob pressão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9336024" y="1773936"/>
            <a:ext cx="731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10067544" y="1773936"/>
            <a:ext cx="777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79,0%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10844784" y="1773936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38,4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662672" y="2340864"/>
            <a:ext cx="3959352" cy="493776"/>
          </a:xfrm>
          <a:prstGeom prst="roundRect">
            <a:avLst>
              <a:gd name="adj" fmla="val 16667"/>
            </a:avLst>
          </a:prstGeom>
          <a:solidFill>
            <a:srgbClr val="EEF3F4"/>
          </a:solidFill>
          <a:ln/>
        </p:spPr>
      </p:sp>
      <p:sp>
        <p:nvSpPr>
          <p:cNvPr id="18" name="Shape 15"/>
          <p:cNvSpPr/>
          <p:nvPr/>
        </p:nvSpPr>
        <p:spPr>
          <a:xfrm>
            <a:off x="7808976" y="2532888"/>
            <a:ext cx="118872" cy="118872"/>
          </a:xfrm>
          <a:prstGeom prst="ellipse">
            <a:avLst/>
          </a:prstGeom>
          <a:solidFill>
            <a:srgbClr val="B5820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010144" y="2340864"/>
            <a:ext cx="13075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local pressionada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9336024" y="2340864"/>
            <a:ext cx="731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10067544" y="2340864"/>
            <a:ext cx="777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77,0%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10844784" y="2340864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11,1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7662672" y="2907792"/>
            <a:ext cx="3959352" cy="493776"/>
          </a:xfrm>
          <a:prstGeom prst="roundRect">
            <a:avLst>
              <a:gd name="adj" fmla="val 16667"/>
            </a:avLst>
          </a:prstGeom>
          <a:solidFill>
            <a:srgbClr val="EEF3F4"/>
          </a:solidFill>
          <a:ln/>
        </p:spPr>
      </p:sp>
      <p:sp>
        <p:nvSpPr>
          <p:cNvPr id="24" name="Shape 21"/>
          <p:cNvSpPr/>
          <p:nvPr/>
        </p:nvSpPr>
        <p:spPr>
          <a:xfrm>
            <a:off x="7808976" y="3099816"/>
            <a:ext cx="118872" cy="118872"/>
          </a:xfrm>
          <a:prstGeom prst="ellipse">
            <a:avLst/>
          </a:prstGeom>
          <a:solidFill>
            <a:srgbClr val="7A4FA8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010144" y="2907792"/>
            <a:ext cx="13075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 de hospital regional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9336024" y="2907792"/>
            <a:ext cx="731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10067544" y="2907792"/>
            <a:ext cx="777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76,7%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10844784" y="2907792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117,7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662672" y="3474720"/>
            <a:ext cx="3959352" cy="493776"/>
          </a:xfrm>
          <a:prstGeom prst="roundRect">
            <a:avLst>
              <a:gd name="adj" fmla="val 16667"/>
            </a:avLst>
          </a:prstGeom>
          <a:solidFill>
            <a:srgbClr val="EEF3F4"/>
          </a:solidFill>
          <a:ln/>
        </p:spPr>
      </p:sp>
      <p:sp>
        <p:nvSpPr>
          <p:cNvPr id="30" name="Shape 27"/>
          <p:cNvSpPr/>
          <p:nvPr/>
        </p:nvSpPr>
        <p:spPr>
          <a:xfrm>
            <a:off x="7808976" y="3666744"/>
            <a:ext cx="118872" cy="118872"/>
          </a:xfrm>
          <a:prstGeom prst="ellipse">
            <a:avLst/>
          </a:prstGeom>
          <a:solidFill>
            <a:srgbClr val="009B98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8010144" y="3474720"/>
            <a:ext cx="13075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com folga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9336024" y="3474720"/>
            <a:ext cx="731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183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10067544" y="3474720"/>
            <a:ext cx="777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31,2%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10844784" y="3474720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15,6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7662672" y="4114800"/>
            <a:ext cx="3959352" cy="1426464"/>
          </a:xfrm>
          <a:prstGeom prst="roundRect">
            <a:avLst>
              <a:gd name="adj" fmla="val 5769"/>
            </a:avLst>
          </a:prstGeom>
          <a:solidFill>
            <a:srgbClr val="0A2A3B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7918704" y="4279392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9B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k=4 e não k=2</a:t>
            </a:r>
            <a:endParaRPr lang="en-US" sz="1150" dirty="0"/>
          </a:p>
        </p:txBody>
      </p:sp>
      <p:sp>
        <p:nvSpPr>
          <p:cNvPr id="37" name="Text 34"/>
          <p:cNvSpPr txBox="1"/>
          <p:nvPr/>
        </p:nvSpPr>
        <p:spPr>
          <a:xfrm>
            <a:off x="7918704" y="4553712"/>
            <a:ext cx="34472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D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silhueta é maior em k=2 (0,38) do que em k=4 (0,35). Escolhemos k=4 porque k=2 apenas separa rede cheia de rede vazia, o que não orienta decisão. Com quatro grupos aparecem situações que pedem ações opostas: um polo lotado precisa de regulação de fluxo; uma rede com folga, no mesmo estado, precisa de realocação de recurso — não de mais leito.</a:t>
            </a:r>
            <a:endParaRPr lang="en-US" sz="95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63825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PULSO · Vital Analytics · 1TSCOA</a:t>
            </a:r>
            <a:endParaRPr lang="en-US" sz="850" dirty="0"/>
          </a:p>
        </p:txBody>
      </p:sp>
      <p:sp>
        <p:nvSpPr>
          <p:cNvPr id="39" name="Text 36"/>
          <p:cNvSpPr txBox="1"/>
          <p:nvPr/>
        </p:nvSpPr>
        <p:spPr>
          <a:xfrm>
            <a:off x="11073384" y="638251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75488" cy="475488"/>
          </a:xfrm>
          <a:prstGeom prst="ellipse">
            <a:avLst/>
          </a:prstGeom>
          <a:solidFill>
            <a:srgbClr val="009B9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25296" y="347472"/>
            <a:ext cx="10396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Duas decisões de método que mudaram o resultado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25296" y="786384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Tratamento de dados não é limpeza: é o que separa um ranking útil de um ranking enganoso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5381244" cy="4315968"/>
          </a:xfrm>
          <a:prstGeom prst="roundRect">
            <a:avLst>
              <a:gd name="adj" fmla="val 1907"/>
            </a:avLst>
          </a:prstGeom>
          <a:solidFill>
            <a:srgbClr val="EEF3F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1248" y="1719072"/>
            <a:ext cx="48326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4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 que quase passou despercebido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212848"/>
            <a:ext cx="48326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ENCONTRAMOS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2450592"/>
            <a:ext cx="48326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ordenar por ocupação, o topo era dominado por municípios pequenos com permanência média altíssima — Jaci com 98 dias, Itapira com 25. Investigando: são sedes de hospital psiquiátrico e de retaguarda.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3310128"/>
            <a:ext cx="48326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DECIDIMOS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3547872"/>
            <a:ext cx="48326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Municípios com permanência média ≥ 20 dias ficam fora dos modelos de capacidade. Neles a ocupação alta é estrutural, não é crise. Sem esse corte, eles dominavam qualquer ranking e escondiam quem precisa de ação.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4407408"/>
            <a:ext cx="48326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ASSIM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841248" y="4645152"/>
            <a:ext cx="48326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corte foi calibrado em 20 dias, não em 8: Guarulhos, com 8,2 dias, é hospital geral complexo e precisa continuar na análise.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40780" y="1481328"/>
            <a:ext cx="5381244" cy="4315968"/>
          </a:xfrm>
          <a:prstGeom prst="roundRect">
            <a:avLst>
              <a:gd name="adj" fmla="val 1907"/>
            </a:avLst>
          </a:prstGeom>
          <a:solidFill>
            <a:srgbClr val="EEF3F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15100" y="1719072"/>
            <a:ext cx="48326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82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Crescimento ou apenas oscilação?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515100" y="2212848"/>
            <a:ext cx="48326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ENCONTRAMOS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6515100" y="2450592"/>
            <a:ext cx="48326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uma reta em 12 pontos é fácil. Saber quando a reta significa alguma coisa é o problema. Um município aparecia com +48% de crescimento e R² de 0,14.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515100" y="3310128"/>
            <a:ext cx="48326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DECIDIMOS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6515100" y="3547872"/>
            <a:ext cx="48326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R² entrou como filtro em todo lugar onde o painel apresenta tendência. Abaixo de 0,4, a variação é ruído sazonal, não tendência.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515100" y="4407408"/>
            <a:ext cx="48326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ASSIM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6515100" y="4645152"/>
            <a:ext cx="48326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265 séries ajustadas, apenas 20 têm R² ≥ 0,5. O R² mediano do conjunto é 0,07 — e esse é o resultado correto: a maioria dos municípios oscila em torno da média.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63825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PULSO · Vital Analytics · 1TSCOA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11073384" y="638251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75488" cy="475488"/>
          </a:xfrm>
          <a:prstGeom prst="ellipse">
            <a:avLst/>
          </a:prstGeom>
          <a:solidFill>
            <a:srgbClr val="009B9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25296" y="347472"/>
            <a:ext cx="10396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Evidências visuais — demanda e capacidade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25296" y="786384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gráficos são gerados pelo pipeline a partir das fontes públicas</a:t>
            </a:r>
            <a:endParaRPr lang="en-US" sz="1250" dirty="0"/>
          </a:p>
        </p:txBody>
      </p:sp>
      <p:pic>
        <p:nvPicPr>
          <p:cNvPr id="6" name="Image 0" descr="/home/claude/pulso/docs/evidencias/g1_serie_temporal_s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26464"/>
            <a:ext cx="6949440" cy="30358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66928" y="4535424"/>
            <a:ext cx="6949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Internações mensais no estado, com a reta de tendência ajustada. A queda de novembro a fevereiro é sazonal e se repete todo ano — motivo pelo qual o painel compara trimestres equivalentes, não meses isolados.</a:t>
            </a:r>
            <a:endParaRPr lang="en-US" sz="1050" dirty="0"/>
          </a:p>
        </p:txBody>
      </p:sp>
      <p:pic>
        <p:nvPicPr>
          <p:cNvPr id="8" name="Image 1" descr="/home/claude/pulso/docs/evidencias/g7_distribuicao_alert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4112" y="1554480"/>
            <a:ext cx="3840480" cy="2651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754112" y="4297680"/>
            <a:ext cx="38679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321 municípios com rede hospitalar avaliada, 15 operam acima de 100% da capacidade estimada e 31 estão na faixa de atenção.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566928" y="5285232"/>
            <a:ext cx="11055096" cy="786384"/>
          </a:xfrm>
          <a:prstGeom prst="roundRect">
            <a:avLst>
              <a:gd name="adj" fmla="val 10465"/>
            </a:avLst>
          </a:prstGeom>
          <a:solidFill>
            <a:srgbClr val="EEF3F4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859536" y="5431536"/>
            <a:ext cx="10469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Ocupação estimada = (internações × permanência média) ÷ (leitos SUS × 365). O SIH não publica censo diário de leito, então o indicador serve para priorizar verificação, não para auditar — e isso está declarado no painel e na documentação.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566928" y="63825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PULSO · Vital Analytics · 1TSCOA</a:t>
            </a:r>
            <a:endParaRPr lang="en-US" sz="850" dirty="0"/>
          </a:p>
        </p:txBody>
      </p:sp>
      <p:sp>
        <p:nvSpPr>
          <p:cNvPr id="13" name="Text 9"/>
          <p:cNvSpPr txBox="1"/>
          <p:nvPr/>
        </p:nvSpPr>
        <p:spPr>
          <a:xfrm>
            <a:off x="11073384" y="638251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75488" cy="475488"/>
          </a:xfrm>
          <a:prstGeom prst="ellipse">
            <a:avLst/>
          </a:prstGeom>
          <a:solidFill>
            <a:srgbClr val="009B9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25296" y="347472"/>
            <a:ext cx="10396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Evidências visuais — prioridade e perfil assistencial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25296" y="786384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agir primeiro e o que ocupa o leito paulista</a:t>
            </a:r>
            <a:endParaRPr lang="en-US" sz="1250" dirty="0"/>
          </a:p>
        </p:txBody>
      </p:sp>
      <p:pic>
        <p:nvPicPr>
          <p:cNvPr id="6" name="Image 0" descr="/home/claude/pulso/docs/evidencias/g2_ranking_criticida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26464"/>
            <a:ext cx="5486400" cy="3419856"/>
          </a:xfrm>
          <a:prstGeom prst="rect">
            <a:avLst/>
          </a:prstGeom>
        </p:spPr>
      </p:pic>
      <p:pic>
        <p:nvPicPr>
          <p:cNvPr id="7" name="Image 1" descr="/home/claude/pulso/docs/evidencias/g3_perfil_cid1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632" y="1481328"/>
            <a:ext cx="5431536" cy="30175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66928" y="4937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composto de criticidade: São José do Rio Preto, Jundiaí e Francisco Morato lideram com ocupação acima de 100%.</a:t>
            </a:r>
            <a:endParaRPr lang="en-US" sz="1050" dirty="0"/>
          </a:p>
        </p:txBody>
      </p:sp>
      <p:sp>
        <p:nvSpPr>
          <p:cNvPr id="9" name="Text 5"/>
          <p:cNvSpPr txBox="1"/>
          <p:nvPr/>
        </p:nvSpPr>
        <p:spPr>
          <a:xfrm>
            <a:off x="6199632" y="4626864"/>
            <a:ext cx="5431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capítulos da CID-10 concentram 35,2% da demanda. Gravidez e parto lidera com 369 mil internações — é onde a atenção primária tem maior potencial de desafogar o leito hospitalar.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566928" y="63825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PULSO · Vital Analytics · 1TSCOA</a:t>
            </a:r>
            <a:endParaRPr lang="en-US" sz="850" dirty="0"/>
          </a:p>
        </p:txBody>
      </p:sp>
      <p:sp>
        <p:nvSpPr>
          <p:cNvPr id="11" name="Text 7"/>
          <p:cNvSpPr txBox="1"/>
          <p:nvPr/>
        </p:nvSpPr>
        <p:spPr>
          <a:xfrm>
            <a:off x="11073384" y="638251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75488" cy="475488"/>
          </a:xfrm>
          <a:prstGeom prst="ellipse">
            <a:avLst/>
          </a:prstGeom>
          <a:solidFill>
            <a:srgbClr val="009B9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25296" y="347472"/>
            <a:ext cx="10396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Evidências visuais — tendência e contexto nacional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25296" y="786384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a demanda cresce de verdade, e como São Paulo se compara ao país</a:t>
            </a:r>
            <a:endParaRPr lang="en-US" sz="1250" dirty="0"/>
          </a:p>
        </p:txBody>
      </p:sp>
      <p:pic>
        <p:nvPicPr>
          <p:cNvPr id="6" name="Image 0" descr="/home/claude/pulso/docs/evidencias/g6_tendenc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26464"/>
            <a:ext cx="5486400" cy="3054096"/>
          </a:xfrm>
          <a:prstGeom prst="rect">
            <a:avLst/>
          </a:prstGeom>
        </p:spPr>
      </p:pic>
      <p:pic>
        <p:nvPicPr>
          <p:cNvPr id="7" name="Image 1" descr="/home/claude/pulso/docs/evidencias/g5_ranking_u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632" y="1426464"/>
            <a:ext cx="5431536" cy="30175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66928" y="4553712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tendências com R² ≥ 0,4. Guaratinguetá cresce +119% anualizados com R² 0,71 — movimento consistente, não oscilação de um mês.</a:t>
            </a:r>
            <a:endParaRPr lang="en-US" sz="1050" dirty="0"/>
          </a:p>
        </p:txBody>
      </p:sp>
      <p:sp>
        <p:nvSpPr>
          <p:cNvPr id="9" name="Text 5"/>
          <p:cNvSpPr txBox="1"/>
          <p:nvPr/>
        </p:nvSpPr>
        <p:spPr>
          <a:xfrm>
            <a:off x="6199632" y="4553712"/>
            <a:ext cx="54315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Paulo responde por 2,91 milhões das internações do país em 12 meses — quase o dobro do segundo colocado. O recorte estadual do MVP cobre a maior rede do SUS.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566928" y="5340096"/>
            <a:ext cx="11055096" cy="731520"/>
          </a:xfrm>
          <a:prstGeom prst="roundRect">
            <a:avLst>
              <a:gd name="adj" fmla="val 11250"/>
            </a:avLst>
          </a:prstGeom>
          <a:solidFill>
            <a:srgbClr val="EEF3F4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859536" y="5504688"/>
            <a:ext cx="10469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expansão para as demais unidades da federação é troca de parâmetro no cliente do TabNet, não mudança de arquitetura. O custo é tempo de extração.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566928" y="63825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PULSO · Vital Analytics · 1TSCOA</a:t>
            </a:r>
            <a:endParaRPr lang="en-US" sz="850" dirty="0"/>
          </a:p>
        </p:txBody>
      </p:sp>
      <p:sp>
        <p:nvSpPr>
          <p:cNvPr id="13" name="Text 9"/>
          <p:cNvSpPr txBox="1"/>
          <p:nvPr/>
        </p:nvSpPr>
        <p:spPr>
          <a:xfrm>
            <a:off x="11073384" y="638251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75488" cy="475488"/>
          </a:xfrm>
          <a:prstGeom prst="ellipse">
            <a:avLst/>
          </a:prstGeom>
          <a:solidFill>
            <a:srgbClr val="009B9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25296" y="347472"/>
            <a:ext cx="10396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Camada Oracle — Select AI e persistência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25296" y="786384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gestor pergunta em português; o banco gera o SQL, executa e responde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444752"/>
            <a:ext cx="5779008" cy="4224528"/>
          </a:xfrm>
          <a:prstGeom prst="roundRect">
            <a:avLst>
              <a:gd name="adj" fmla="val 1948"/>
            </a:avLst>
          </a:prstGeom>
          <a:solidFill>
            <a:srgbClr val="0A2A3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1248" y="1645920"/>
            <a:ext cx="5230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009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 IA CONFIGURADO NO AUTONOMOUS DATABASE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1956816"/>
            <a:ext cx="5230368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BFD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BFD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DBMS_CLOUD_AI.CREATE_PROFILE(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BFD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profile_name =&gt; 'PULSO_AI',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BFD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attributes   =&gt; '{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BFD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"provider"        : "openai",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BFD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"credential_name" : "CRED_IA_PULSO",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BFD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"comments"        : "true",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BFD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"object_list"     : [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BFD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{"owner":"ADMIN","name":"mv_indicadores_municipio"},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BFD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{"owner":"ADMIN","name":"mv_ranking_criticidade"},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BFD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{"owner":"ADMIN","name":"mv_tendencia_municipio"},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BFD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{"owner":"ADMIN","name":"vw_perfil_assistencial"}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BFD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]}'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BFD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BFD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END;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BFD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BFD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AI showsql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BFD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'quais municipios estao com a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BFD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capacidade hospitalar ultrapassada';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620256" y="1444752"/>
            <a:ext cx="5001768" cy="1975104"/>
          </a:xfrm>
          <a:prstGeom prst="roundRect">
            <a:avLst>
              <a:gd name="adj" fmla="val 4167"/>
            </a:avLst>
          </a:prstGeom>
          <a:solidFill>
            <a:srgbClr val="EEF3F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94576" y="1645920"/>
            <a:ext cx="4453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 MODELAGEM É O QUE FAZ O SELECT AI FUNCIONAR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894576" y="1938528"/>
            <a:ext cx="445312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object_list é a fronteira do que a IA enxerga — expomos oito views de negócio, não as tabelas cruas. E o atributo "comments" faz a IA ler os COMMENT ON do esquema: é o que permite a ela entender que ocupação acima de 100% significa capacidade ultrapassada, sem que isso esteja escrito na pergunta.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620256" y="3566160"/>
            <a:ext cx="5001768" cy="2103120"/>
          </a:xfrm>
          <a:prstGeom prst="roundRect">
            <a:avLst>
              <a:gd name="adj" fmla="val 3913"/>
            </a:avLst>
          </a:prstGeom>
          <a:solidFill>
            <a:srgbClr val="EEF3F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94576" y="3767328"/>
            <a:ext cx="4453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 PERGUNTAS DE NEGÓCIO IMPLEMENTADAS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894576" y="4078224"/>
            <a:ext cx="4453128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municípios ultrapassaram a capacidade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perfis de atendimento mais pressionam a rede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as internações crescem mais rápido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municípios têm poucos leitos para a população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 custo médio de internação é mais alto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região concentra mais casos críticos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5815584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completos em sql/ — DDL comentado, ingestão nos três mecanismos, views analíticas, perfil de IA e as perguntas com o SQL equivalente escrito à mão para conferência.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63825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PULSO · Vital Analytics · 1TSCOA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11073384" y="638251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75488" cy="475488"/>
          </a:xfrm>
          <a:prstGeom prst="ellipse">
            <a:avLst/>
          </a:prstGeom>
          <a:solidFill>
            <a:srgbClr val="009B9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25296" y="347472"/>
            <a:ext cx="10396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Repositório técnico e código-fonte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25296" y="786384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o código gerado no projeto, versionado e documentado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4937760" cy="4206240"/>
          </a:xfrm>
          <a:prstGeom prst="roundRect">
            <a:avLst>
              <a:gd name="adj" fmla="val 1957"/>
            </a:avLst>
          </a:prstGeom>
          <a:solidFill>
            <a:srgbClr val="EEF3F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1248" y="168249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DO REPOSITÓRIO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1975104"/>
            <a:ext cx="43891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3C5C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3C5C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run_pipeline.py       orquestrador ponta a ponta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3C5C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etl/tabnet_client.py  cliente do CGI do DATASUS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3C5C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etl/extract_*.py      as três fontes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3C5C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etl/transform.py      integração e indicadores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3C5C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analytics/modelos.py  K-Means, índice, regressão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3C5C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viz/                  gráficos e dashboard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3C5C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sql/                    01 a 05 — Oracle 23ai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3C5C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notebooks/              análise exploratória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3C5C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                   dados tratados: raw + processed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3C5C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                   arquitetura, dicionário,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3C5C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implantação, evidências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3C5C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dashboard/              aplicação navegável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779008" y="1481328"/>
            <a:ext cx="5843016" cy="768096"/>
          </a:xfrm>
          <a:prstGeom prst="roundRect">
            <a:avLst>
              <a:gd name="adj" fmla="val 10714"/>
            </a:avLst>
          </a:prstGeom>
          <a:solidFill>
            <a:srgbClr val="EEF3F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035040" y="1572768"/>
            <a:ext cx="5330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B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828800"/>
            <a:ext cx="5330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Problema, arquitetura, resultados com dados reais, como executar e limitações declaradas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779008" y="2340864"/>
            <a:ext cx="5843016" cy="768096"/>
          </a:xfrm>
          <a:prstGeom prst="roundRect">
            <a:avLst>
              <a:gd name="adj" fmla="val 10714"/>
            </a:avLst>
          </a:prstGeom>
          <a:solidFill>
            <a:srgbClr val="EEF3F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035040" y="2432304"/>
            <a:ext cx="5330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B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docs/arquitetura.md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2688336"/>
            <a:ext cx="5330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em cinco camadas, fluxo do dado ponta a ponta, implementado × planejado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779008" y="3200400"/>
            <a:ext cx="5843016" cy="768096"/>
          </a:xfrm>
          <a:prstGeom prst="roundRect">
            <a:avLst>
              <a:gd name="adj" fmla="val 10714"/>
            </a:avLst>
          </a:prstGeom>
          <a:solidFill>
            <a:srgbClr val="EEF3F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035040" y="3291840"/>
            <a:ext cx="5330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B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docs/dicionario_dados.md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0" y="3547872"/>
            <a:ext cx="5330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campo de cada tabela, com a ressalva metodológica de cada indicador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779008" y="4059936"/>
            <a:ext cx="5843016" cy="768096"/>
          </a:xfrm>
          <a:prstGeom prst="roundRect">
            <a:avLst>
              <a:gd name="adj" fmla="val 10714"/>
            </a:avLst>
          </a:prstGeom>
          <a:solidFill>
            <a:srgbClr val="EEF3F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035040" y="4151376"/>
            <a:ext cx="5330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B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docs/implantacao_oracle.md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035040" y="4407408"/>
            <a:ext cx="5330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Implantação da camada Oracle: ordem dos scripts, validação da carga e diagnóstico do Select AI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779008" y="4919472"/>
            <a:ext cx="5843016" cy="768096"/>
          </a:xfrm>
          <a:prstGeom prst="roundRect">
            <a:avLst>
              <a:gd name="adj" fmla="val 10714"/>
            </a:avLst>
          </a:prstGeom>
          <a:solidFill>
            <a:srgbClr val="EEF3F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035040" y="5010912"/>
            <a:ext cx="5330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B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notebooks/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035040" y="5266944"/>
            <a:ext cx="5330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exploratória que precedeu e justifica as decisões de modelagem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6928" y="5797296"/>
            <a:ext cx="11055096" cy="475488"/>
          </a:xfrm>
          <a:prstGeom prst="roundRect">
            <a:avLst>
              <a:gd name="adj" fmla="val 17308"/>
            </a:avLst>
          </a:prstGeom>
          <a:solidFill>
            <a:srgbClr val="0A2A3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59536" y="5797296"/>
            <a:ext cx="10469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 público:   github.com/nelsondiniz-p/pulso-vital-analytics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63825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PULSO · Vital Analytics · 1TSCOA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11073384" y="638251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75488" cy="475488"/>
          </a:xfrm>
          <a:prstGeom prst="ellipse">
            <a:avLst/>
          </a:prstGeom>
          <a:solidFill>
            <a:srgbClr val="009B9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25296" y="347472"/>
            <a:ext cx="10396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 pitch e demonstração hands on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25296" y="786384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minutos: problema, solução, demonstração ao vivo e resultados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5096" cy="640080"/>
          </a:xfrm>
          <a:prstGeom prst="roundRect">
            <a:avLst>
              <a:gd name="adj" fmla="val 12857"/>
            </a:avLst>
          </a:prstGeom>
          <a:solidFill>
            <a:srgbClr val="EEF3F4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618488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009B9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161848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00:00 – 00:30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2286000" y="148132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Abertura e contextualização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327648" y="1481328"/>
            <a:ext cx="5093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gestão de saúde decide com o dado do mês passado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2194560"/>
            <a:ext cx="11055096" cy="640080"/>
          </a:xfrm>
          <a:prstGeom prst="roundRect">
            <a:avLst>
              <a:gd name="adj" fmla="val 12857"/>
            </a:avLst>
          </a:prstGeom>
          <a:solidFill>
            <a:srgbClr val="EEF3F4"/>
          </a:solidFill>
          <a:ln/>
        </p:spPr>
      </p:sp>
      <p:sp>
        <p:nvSpPr>
          <p:cNvPr id="12" name="Shape 10"/>
          <p:cNvSpPr/>
          <p:nvPr/>
        </p:nvSpPr>
        <p:spPr>
          <a:xfrm>
            <a:off x="749808" y="2331720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009B9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2331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00:30 – 01:00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2286000" y="21945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do projeto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327648" y="2194560"/>
            <a:ext cx="5093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Encurtar o caminho entre a pergunta e a resposta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2907792"/>
            <a:ext cx="11055096" cy="640080"/>
          </a:xfrm>
          <a:prstGeom prst="roundRect">
            <a:avLst>
              <a:gd name="adj" fmla="val 12857"/>
            </a:avLst>
          </a:prstGeom>
          <a:solidFill>
            <a:srgbClr val="EEF3F4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3044952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B5820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49808" y="30449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01:00 – 02:00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2286000" y="290779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 de solução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327648" y="2907792"/>
            <a:ext cx="5093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Arquitetura, as três fontes e o diferencial Select AI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" y="3621024"/>
            <a:ext cx="11055096" cy="640080"/>
          </a:xfrm>
          <a:prstGeom prst="roundRect">
            <a:avLst>
              <a:gd name="adj" fmla="val 12857"/>
            </a:avLst>
          </a:prstGeom>
          <a:solidFill>
            <a:srgbClr val="EEF3F4"/>
          </a:solidFill>
          <a:ln/>
        </p:spPr>
      </p:sp>
      <p:sp>
        <p:nvSpPr>
          <p:cNvPr id="22" name="Shape 20"/>
          <p:cNvSpPr/>
          <p:nvPr/>
        </p:nvSpPr>
        <p:spPr>
          <a:xfrm>
            <a:off x="749808" y="3758184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D9452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49808" y="375818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02:00 – 04:00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2286000" y="3621024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Demonstração da solução funcionando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327648" y="3621024"/>
            <a:ext cx="5093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navegável e Select AI respondendo em português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66928" y="4334256"/>
            <a:ext cx="11055096" cy="640080"/>
          </a:xfrm>
          <a:prstGeom prst="roundRect">
            <a:avLst>
              <a:gd name="adj" fmla="val 12857"/>
            </a:avLst>
          </a:prstGeom>
          <a:solidFill>
            <a:srgbClr val="EEF3F4"/>
          </a:solidFill>
          <a:ln/>
        </p:spPr>
      </p:sp>
      <p:sp>
        <p:nvSpPr>
          <p:cNvPr id="27" name="Shape 25"/>
          <p:cNvSpPr/>
          <p:nvPr/>
        </p:nvSpPr>
        <p:spPr>
          <a:xfrm>
            <a:off x="749808" y="4471416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7A4FA8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49808" y="447141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04:00 – 04:30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2286000" y="4334256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Benefícios gerados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327648" y="4334256"/>
            <a:ext cx="5093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municípios críticos identificados com dado real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66928" y="5047488"/>
            <a:ext cx="11055096" cy="640080"/>
          </a:xfrm>
          <a:prstGeom prst="roundRect">
            <a:avLst>
              <a:gd name="adj" fmla="val 12857"/>
            </a:avLst>
          </a:prstGeom>
          <a:solidFill>
            <a:srgbClr val="EEF3F4"/>
          </a:solidFill>
          <a:ln/>
        </p:spPr>
      </p:sp>
      <p:sp>
        <p:nvSpPr>
          <p:cNvPr id="32" name="Shape 30"/>
          <p:cNvSpPr/>
          <p:nvPr/>
        </p:nvSpPr>
        <p:spPr>
          <a:xfrm>
            <a:off x="749808" y="5184648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123B4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49808" y="51846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04:30 – 05:00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2286000" y="504748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Conclusão e próximos passos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327648" y="5047488"/>
            <a:ext cx="5093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nacional e ingestão automatizada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66928" y="5797296"/>
            <a:ext cx="11055096" cy="457200"/>
          </a:xfrm>
          <a:prstGeom prst="roundRect">
            <a:avLst>
              <a:gd name="adj" fmla="val 18000"/>
            </a:avLst>
          </a:prstGeom>
          <a:solidFill>
            <a:srgbClr val="0A2A3B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59536" y="5797296"/>
            <a:ext cx="10469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do vídeo no YouTube:   </a:t>
            </a:r>
            <a:pPr indent="0" marL="0">
              <a:buNone/>
            </a:pPr>
            <a:r>
              <a:rPr lang="en-US" sz="1200" b="1" dirty="0">
                <a:solidFill>
                  <a:srgbClr val="D94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colar aqui antes de fechar a entrega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566928" y="63825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PULSO · Vital Analytics · 1TSCOA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11073384" y="638251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2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ulso/docs/evidencias/m2_ecg_branco.png">    </p:cNvPr>
          <p:cNvPicPr>
            <a:picLocks noChangeAspect="1"/>
          </p:cNvPicPr>
          <p:nvPr/>
        </p:nvPicPr>
        <p:blipFill>
          <a:blip r:embed="rId1">
            <a:alphaModFix amt="14000"/>
          </a:blip>
          <a:stretch>
            <a:fillRect/>
          </a:stretch>
        </p:blipFill>
        <p:spPr>
          <a:xfrm>
            <a:off x="0" y="256032"/>
            <a:ext cx="12188952" cy="65836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1042416"/>
            <a:ext cx="475488" cy="475488"/>
          </a:xfrm>
          <a:prstGeom prst="ellipse">
            <a:avLst/>
          </a:prstGeom>
          <a:solidFill>
            <a:srgbClr val="009B98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566928" y="10424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1225296" y="1005840"/>
            <a:ext cx="10396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alcançados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1225296" y="1481328"/>
            <a:ext cx="10396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 reais, extraídos das fontes públicas em 12 meses — nenhum valor ilustrativo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66928" y="2212848"/>
            <a:ext cx="2558034" cy="1371600"/>
          </a:xfrm>
          <a:prstGeom prst="roundRect">
            <a:avLst>
              <a:gd name="adj" fmla="val 5333"/>
            </a:avLst>
          </a:prstGeom>
          <a:solidFill>
            <a:srgbClr val="123B4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04672" y="2395728"/>
            <a:ext cx="208254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9B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2.913.953</a:t>
            </a:r>
            <a:endParaRPr lang="en-US" sz="2500" dirty="0"/>
          </a:p>
        </p:txBody>
      </p:sp>
      <p:sp>
        <p:nvSpPr>
          <p:cNvPr id="9" name="Text 6"/>
          <p:cNvSpPr txBox="1"/>
          <p:nvPr/>
        </p:nvSpPr>
        <p:spPr>
          <a:xfrm>
            <a:off x="804672" y="2962656"/>
            <a:ext cx="208254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internações processadas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99282" y="2212848"/>
            <a:ext cx="2558034" cy="1371600"/>
          </a:xfrm>
          <a:prstGeom prst="roundRect">
            <a:avLst>
              <a:gd name="adj" fmla="val 5333"/>
            </a:avLst>
          </a:prstGeom>
          <a:solidFill>
            <a:srgbClr val="123B4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637026" y="2395728"/>
            <a:ext cx="208254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9B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R$ 5,69 bi</a:t>
            </a:r>
            <a:endParaRPr lang="en-US" sz="2500" dirty="0"/>
          </a:p>
        </p:txBody>
      </p:sp>
      <p:sp>
        <p:nvSpPr>
          <p:cNvPr id="12" name="Text 9"/>
          <p:cNvSpPr txBox="1"/>
          <p:nvPr/>
        </p:nvSpPr>
        <p:spPr>
          <a:xfrm>
            <a:off x="3637026" y="2962656"/>
            <a:ext cx="208254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 executado analisado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231636" y="2212848"/>
            <a:ext cx="2558034" cy="1371600"/>
          </a:xfrm>
          <a:prstGeom prst="roundRect">
            <a:avLst>
              <a:gd name="adj" fmla="val 5333"/>
            </a:avLst>
          </a:prstGeom>
          <a:solidFill>
            <a:srgbClr val="123B4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469380" y="2395728"/>
            <a:ext cx="208254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9B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55.090</a:t>
            </a:r>
            <a:endParaRPr lang="en-US" sz="2500" dirty="0"/>
          </a:p>
        </p:txBody>
      </p:sp>
      <p:sp>
        <p:nvSpPr>
          <p:cNvPr id="15" name="Text 12"/>
          <p:cNvSpPr txBox="1"/>
          <p:nvPr/>
        </p:nvSpPr>
        <p:spPr>
          <a:xfrm>
            <a:off x="6469380" y="2962656"/>
            <a:ext cx="208254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leitos SUS mapeados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9063990" y="2212848"/>
            <a:ext cx="2558034" cy="1371600"/>
          </a:xfrm>
          <a:prstGeom prst="roundRect">
            <a:avLst>
              <a:gd name="adj" fmla="val 5333"/>
            </a:avLst>
          </a:prstGeom>
          <a:solidFill>
            <a:srgbClr val="123B4F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301734" y="2395728"/>
            <a:ext cx="208254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9B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645</a:t>
            </a:r>
            <a:endParaRPr lang="en-US" sz="2500" dirty="0"/>
          </a:p>
        </p:txBody>
      </p:sp>
      <p:sp>
        <p:nvSpPr>
          <p:cNvPr id="18" name="Text 15"/>
          <p:cNvSpPr txBox="1"/>
          <p:nvPr/>
        </p:nvSpPr>
        <p:spPr>
          <a:xfrm>
            <a:off x="9301734" y="2962656"/>
            <a:ext cx="208254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municípios cobertos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66928" y="3785616"/>
            <a:ext cx="2558034" cy="1371600"/>
          </a:xfrm>
          <a:prstGeom prst="roundRect">
            <a:avLst>
              <a:gd name="adj" fmla="val 5333"/>
            </a:avLst>
          </a:prstGeom>
          <a:solidFill>
            <a:srgbClr val="123B4F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4672" y="3968496"/>
            <a:ext cx="208254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D94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2500" dirty="0"/>
          </a:p>
        </p:txBody>
      </p:sp>
      <p:sp>
        <p:nvSpPr>
          <p:cNvPr id="21" name="Text 18"/>
          <p:cNvSpPr txBox="1"/>
          <p:nvPr/>
        </p:nvSpPr>
        <p:spPr>
          <a:xfrm>
            <a:off x="804672" y="4535424"/>
            <a:ext cx="208254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municípios com capacidade ultrapassada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399282" y="3785616"/>
            <a:ext cx="2558034" cy="1371600"/>
          </a:xfrm>
          <a:prstGeom prst="roundRect">
            <a:avLst>
              <a:gd name="adj" fmla="val 5333"/>
            </a:avLst>
          </a:prstGeom>
          <a:solidFill>
            <a:srgbClr val="123B4F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3637026" y="3968496"/>
            <a:ext cx="208254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B582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2500" dirty="0"/>
          </a:p>
        </p:txBody>
      </p:sp>
      <p:sp>
        <p:nvSpPr>
          <p:cNvPr id="24" name="Text 21"/>
          <p:cNvSpPr txBox="1"/>
          <p:nvPr/>
        </p:nvSpPr>
        <p:spPr>
          <a:xfrm>
            <a:off x="3637026" y="4535424"/>
            <a:ext cx="208254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municípios em faixa de atenção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231636" y="3785616"/>
            <a:ext cx="2558034" cy="1371600"/>
          </a:xfrm>
          <a:prstGeom prst="roundRect">
            <a:avLst>
              <a:gd name="adj" fmla="val 5333"/>
            </a:avLst>
          </a:prstGeom>
          <a:solidFill>
            <a:srgbClr val="123B4F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469380" y="3968496"/>
            <a:ext cx="208254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2500" dirty="0"/>
          </a:p>
        </p:txBody>
      </p:sp>
      <p:sp>
        <p:nvSpPr>
          <p:cNvPr id="27" name="Text 24"/>
          <p:cNvSpPr txBox="1"/>
          <p:nvPr/>
        </p:nvSpPr>
        <p:spPr>
          <a:xfrm>
            <a:off x="6469380" y="4535424"/>
            <a:ext cx="208254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municípios com alta consistente (R² ≥ 0,5)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9063990" y="3785616"/>
            <a:ext cx="2558034" cy="1371600"/>
          </a:xfrm>
          <a:prstGeom prst="roundRect">
            <a:avLst>
              <a:gd name="adj" fmla="val 5333"/>
            </a:avLst>
          </a:prstGeom>
          <a:solidFill>
            <a:srgbClr val="123B4F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9301734" y="3968496"/>
            <a:ext cx="208254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9B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500" dirty="0"/>
          </a:p>
        </p:txBody>
      </p:sp>
      <p:sp>
        <p:nvSpPr>
          <p:cNvPr id="30" name="Text 27"/>
          <p:cNvSpPr txBox="1"/>
          <p:nvPr/>
        </p:nvSpPr>
        <p:spPr>
          <a:xfrm>
            <a:off x="9301734" y="4535424"/>
            <a:ext cx="208254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de negócio respondidas em português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5815584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SIH/SUS (DATASUS) · CNES (Ministério da Saúde) · IBGE (Localidades e SIDRA) — jul/2025 a jun/2026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75488" cy="475488"/>
          </a:xfrm>
          <a:prstGeom prst="ellipse">
            <a:avLst/>
          </a:prstGeom>
          <a:solidFill>
            <a:srgbClr val="009B9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25296" y="347472"/>
            <a:ext cx="10396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2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Conclusão e próximos passos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25296" y="786384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MVP provou e para onde a solução evolui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5381244" cy="2286000"/>
          </a:xfrm>
          <a:prstGeom prst="roundRect">
            <a:avLst>
              <a:gd name="adj" fmla="val 3600"/>
            </a:avLst>
          </a:prstGeom>
          <a:solidFill>
            <a:srgbClr val="EEF3F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1248" y="1700784"/>
            <a:ext cx="48326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009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MVP PROVOU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011680"/>
            <a:ext cx="48326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público do SUS é utilizável — o obstáculo é de acesso, não de disponibilidade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em linguagem natural elimina a dependência de analista SQL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Tratamento de dados é o que separa um ranking útil de um enganoso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40780" y="1481328"/>
            <a:ext cx="5381244" cy="2286000"/>
          </a:xfrm>
          <a:prstGeom prst="roundRect">
            <a:avLst>
              <a:gd name="adj" fmla="val 3600"/>
            </a:avLst>
          </a:prstGeom>
          <a:solidFill>
            <a:srgbClr val="EEF3F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15100" y="1700784"/>
            <a:ext cx="48326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B5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APRENDEMOS NO CAMINHO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515100" y="2011680"/>
            <a:ext cx="48326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fonte pública mais importante não tem API — foi preciso construir o cliente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métrica estatística nem sempre aponta para a decisão certa (k=2 × k=4)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C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Declarar a limitação do indicador vale mais do que escondê-la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3931920"/>
            <a:ext cx="11055096" cy="1847088"/>
          </a:xfrm>
          <a:prstGeom prst="roundRect">
            <a:avLst>
              <a:gd name="adj" fmla="val 4455"/>
            </a:avLst>
          </a:prstGeom>
          <a:solidFill>
            <a:srgbClr val="0A2A3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77824" y="4114800"/>
            <a:ext cx="10433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009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877824" y="442569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Curto prazo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523744" y="4425696"/>
            <a:ext cx="8787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Ingestão agendada e cobertura das 27 unidades da federação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77824" y="482803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 prazo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523744" y="4828032"/>
            <a:ext cx="8787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preditivo de demanda com Oracle AutoML e alertas ativos ao gestor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77824" y="523036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Longo prazo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2523744" y="5230368"/>
            <a:ext cx="8787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Ocupação medida via integração com a regulação estadual, substituindo a estimativa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594360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09B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“Transformar dado público em decisão de saúde na velocidade de uma pergunta.”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63825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PULSO · Vital Analytics · 1TSCOA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11073384" y="638251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2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ulso/docs/evidencias/m2_ecg_branco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0" y="1920240"/>
            <a:ext cx="12188952" cy="10058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3127248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Obrigado</a:t>
            </a:r>
            <a:endParaRPr lang="en-US" sz="44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4041648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9D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Oracle e à FIAP, pela proposta de desafio com dado real e problema real. Ao professor tutor e ao scrum master, pela orientação ao longo das duas sprints.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66928" y="4937760"/>
            <a:ext cx="1463040" cy="32004"/>
          </a:xfrm>
          <a:prstGeom prst="rect">
            <a:avLst/>
          </a:prstGeom>
          <a:solidFill>
            <a:srgbClr val="009B9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66928" y="5175504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F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Giovanny da Silva Santana · RM 570646        Marco Aurélio da Silva Oliveira · RM 569185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F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Nélson Martins Diniz Neto · RM 573273        Pedro Henrique Inocente · RM 570201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6053328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Vital Analytics · Turma 1TSCOA · Challenge Oracle + FIAP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FIAP · 1TSCOA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PULSO — Evidências de construção · Sprint 2</dc:title>
  <dc:subject>PptxGenJS Presentation</dc:subject>
  <dc:creator>Equipe Vital Analytics</dc:creator>
  <cp:lastModifiedBy>Equipe Vital Analytics</cp:lastModifiedBy>
  <cp:revision>1</cp:revision>
  <dcterms:created xsi:type="dcterms:W3CDTF">2026-08-29T19:34:44Z</dcterms:created>
  <dcterms:modified xsi:type="dcterms:W3CDTF">2026-08-29T19:34:44Z</dcterms:modified>
</cp:coreProperties>
</file>